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90"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94624"/>
  </p:normalViewPr>
  <p:slideViewPr>
    <p:cSldViewPr snapToGrid="0">
      <p:cViewPr>
        <p:scale>
          <a:sx n="140" d="100"/>
          <a:sy n="140" d="100"/>
        </p:scale>
        <p:origin x="504" y="21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e7e52376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e7e52376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e7f0f7a507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e7f0f7a507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e7f5b6fa0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e7f5b6fa0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e7f5b6fa0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e7f5b6fa0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e7f5b6fa0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e7f5b6fa0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e7f5b6fa0b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e7f5b6fa0b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e7f5b6fa0b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e7f5b6fa0b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e7f5b6fa0b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e7f5b6fa0b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e7f5b6fa0b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e7f5b6fa0b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e7f5b6fa0b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e7f5b6fa0b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e7f5b6fa0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e7f5b6fa0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e7f5b6fa0b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e7f5b6fa0b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e7f5b6fa0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e7f5b6fa0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e7f5b6fa0b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e7f5b6fa0b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e7f5b6fa0b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e7f5b6fa0b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e7f5b6fa0b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e7f5b6fa0b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e7f5b6fa0b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e7f5b6fa0b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e7f5b6fa0b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e7f5b6fa0b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e7f5b6fa0b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e7f5b6fa0b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e7f5b6fa0b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e7f5b6fa0b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e7f5b6fa0b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e7f5b6fa0b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e7f5b6fa0b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e7f5b6fa0b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lgn="ctr">
              <a:defRPr sz="285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021396" y="3264408"/>
            <a:ext cx="5101209" cy="929921"/>
          </a:xfrm>
          <a:noFill/>
        </p:spPr>
        <p:txBody>
          <a:bodyPr>
            <a:normAutofit/>
          </a:bodyPr>
          <a:lstStyle>
            <a:lvl1pPr marL="0" indent="0" algn="ctr">
              <a:buNone/>
              <a:defRPr sz="150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9AB3A824-1A51-4B26-AD58-A6D8E14F6C04}" type="datetimeFigureOut">
              <a:rPr lang="en-US" smtClean="0"/>
              <a:t>5/14/26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18393183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7D162C4-EDD9-4389-A98B-B87ECEA2A816}" type="datetimeFigureOut">
              <a:rPr lang="en-US" smtClean="0"/>
              <a:t>5/14/26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86283720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defRPr sz="285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021396" y="3264349"/>
            <a:ext cx="5101209" cy="948812"/>
          </a:xfr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3E5059C3-6A89-4494-99FF-5A4D6FFD50EB}" type="datetimeFigureOut">
              <a:rPr lang="en-US" smtClean="0"/>
              <a:t>5/14/26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75394698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86434" y="1978533"/>
            <a:ext cx="3203828" cy="23264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753737" y="1978533"/>
            <a:ext cx="3202685" cy="23264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CA954B2F-12DE-47F5-8894-472B206D2E1E}" type="datetimeFigureOut">
              <a:rPr lang="en-US" smtClean="0"/>
              <a:t>5/14/26</a:t>
            </a:fld>
            <a:endParaRPr lang="en-US" dirty="0"/>
          </a:p>
        </p:txBody>
      </p:sp>
      <p:sp>
        <p:nvSpPr>
          <p:cNvPr id="9" name="Footer Placeholder 8"/>
          <p:cNvSpPr>
            <a:spLocks noGrp="1"/>
          </p:cNvSpPr>
          <p:nvPr>
            <p:ph type="ftr" sz="quarter" idx="11"/>
          </p:nvPr>
        </p:nvSpPr>
        <p:spPr/>
        <p:txBody>
          <a:bodyPr/>
          <a:lstStyle/>
          <a:p>
            <a:r>
              <a:rPr lang="en-US"/>
              <a:t>
              </a:t>
            </a:r>
            <a:endParaRPr lang="en-US" dirty="0"/>
          </a:p>
        </p:txBody>
      </p:sp>
      <p:sp>
        <p:nvSpPr>
          <p:cNvPr id="10" name="Slide Number Placeholder 9"/>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950994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87577" y="1735075"/>
            <a:ext cx="3202686"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1187577" y="2357438"/>
            <a:ext cx="3202686" cy="19475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4753737" y="2357438"/>
            <a:ext cx="3190113" cy="1947582"/>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4753737" y="1735075"/>
            <a:ext cx="3202686"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7" name="Date Placeholder 6"/>
          <p:cNvSpPr>
            <a:spLocks noGrp="1"/>
          </p:cNvSpPr>
          <p:nvPr>
            <p:ph type="dt" sz="half" idx="10"/>
          </p:nvPr>
        </p:nvSpPr>
        <p:spPr/>
        <p:txBody>
          <a:bodyPr/>
          <a:lstStyle/>
          <a:p>
            <a:fld id="{3CBC1C18-307B-4F68-A007-B5B542270E8D}" type="datetimeFigureOut">
              <a:rPr lang="en-US" smtClean="0"/>
              <a:t>5/14/26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152399997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5/14/26</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3941264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5/14/26</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5133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3504" y="1682871"/>
            <a:ext cx="3364992" cy="856123"/>
          </a:xfrm>
          <a:solidFill>
            <a:srgbClr val="FFFFFF"/>
          </a:solidFill>
          <a:ln>
            <a:solidFill>
              <a:srgbClr val="404040"/>
            </a:solidFill>
          </a:ln>
        </p:spPr>
        <p:txBody>
          <a:bodyPr anchor="ctr" anchorCtr="1">
            <a:normAutofit/>
          </a:bodyPr>
          <a:lstStyle>
            <a:lvl1pPr>
              <a:defRPr sz="165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5052060" y="603504"/>
            <a:ext cx="3611880" cy="3936492"/>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6676" y="2662439"/>
            <a:ext cx="2846070" cy="164552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9" name="Date Placeholder 8"/>
          <p:cNvSpPr>
            <a:spLocks noGrp="1"/>
          </p:cNvSpPr>
          <p:nvPr>
            <p:ph type="dt" sz="half" idx="10"/>
          </p:nvPr>
        </p:nvSpPr>
        <p:spPr/>
        <p:txBody>
          <a:bodyPr/>
          <a:lstStyle/>
          <a:p>
            <a:fld id="{37D525BB-DA17-4BA0-B3C8-3AC3ABC827E6}" type="datetimeFigureOut">
              <a:rPr lang="en-US" smtClean="0"/>
              <a:t>5/14/26</a:t>
            </a:fld>
            <a:endParaRPr lang="en-US" dirty="0"/>
          </a:p>
        </p:txBody>
      </p:sp>
      <p:sp>
        <p:nvSpPr>
          <p:cNvPr id="10" name="Footer Placeholder 9"/>
          <p:cNvSpPr>
            <a:spLocks noGrp="1"/>
          </p:cNvSpPr>
          <p:nvPr>
            <p:ph type="ftr" sz="quarter" idx="11"/>
          </p:nvPr>
        </p:nvSpPr>
        <p:spPr>
          <a:xfrm>
            <a:off x="603504" y="4677156"/>
            <a:ext cx="3843598" cy="240030"/>
          </a:xfrm>
        </p:spPr>
        <p:txBody>
          <a:bodyPr/>
          <a:lstStyle>
            <a:lvl1pPr>
              <a:defRPr>
                <a:solidFill>
                  <a:srgbClr val="FFFFFF">
                    <a:alpha val="70000"/>
                  </a:srgbClr>
                </a:solidFill>
              </a:defRPr>
            </a:lvl1pPr>
          </a:lstStyle>
          <a:p>
            <a:r>
              <a:rPr lang="en-US"/>
              <a:t>
              </a:t>
            </a:r>
            <a:endParaRPr lang="en-US" dirty="0"/>
          </a:p>
        </p:txBody>
      </p:sp>
      <p:sp>
        <p:nvSpPr>
          <p:cNvPr id="11" name="Slide Number Placeholder 10"/>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559765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6392" y="1682871"/>
            <a:ext cx="3371249" cy="850980"/>
          </a:xfrm>
          <a:solidFill>
            <a:srgbClr val="FFFFFF"/>
          </a:solidFill>
          <a:ln>
            <a:solidFill>
              <a:srgbClr val="404040"/>
            </a:solidFill>
          </a:ln>
        </p:spPr>
        <p:txBody>
          <a:bodyPr anchor="ctr" anchorCtr="1">
            <a:noAutofit/>
          </a:bodyPr>
          <a:lstStyle>
            <a:lvl1pPr>
              <a:defRPr sz="165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572000" y="0"/>
            <a:ext cx="4576573" cy="5143500"/>
          </a:xfrm>
          <a:solidFill>
            <a:schemeClr val="bg1">
              <a:lumMod val="75000"/>
            </a:schemeClr>
          </a:solidFill>
        </p:spPr>
        <p:txBody>
          <a:bodyPr anchor="t"/>
          <a:lstStyle>
            <a:lvl1pPr marL="0" indent="0">
              <a:buNone/>
              <a:defRPr sz="2400">
                <a:solidFill>
                  <a:schemeClr val="bg1">
                    <a:lumMod val="85000"/>
                    <a:lumOff val="15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836676" y="2662439"/>
            <a:ext cx="2846070" cy="1645528"/>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B16C4C9A-3960-41CF-A4E9-2A8FB932454B}" type="datetimeFigureOut">
              <a:rPr lang="en-US" smtClean="0"/>
              <a:t>5/14/26</a:t>
            </a:fld>
            <a:endParaRPr lang="en-US" dirty="0"/>
          </a:p>
        </p:txBody>
      </p:sp>
      <p:sp>
        <p:nvSpPr>
          <p:cNvPr id="9" name="Footer Placeholder 8"/>
          <p:cNvSpPr>
            <a:spLocks noGrp="1"/>
          </p:cNvSpPr>
          <p:nvPr>
            <p:ph type="ftr" sz="quarter" idx="11"/>
          </p:nvPr>
        </p:nvSpPr>
        <p:spPr>
          <a:xfrm>
            <a:off x="603504" y="4677156"/>
            <a:ext cx="3843598" cy="240030"/>
          </a:xfrm>
        </p:spPr>
        <p:txBody>
          <a:bodyPr/>
          <a:lstStyle>
            <a:lvl1pPr>
              <a:defRPr>
                <a:solidFill>
                  <a:srgbClr val="FFFFFF">
                    <a:alpha val="70000"/>
                  </a:srgbClr>
                </a:solidFill>
              </a:defRPr>
            </a:lvl1pPr>
          </a:lstStyle>
          <a:p>
            <a:r>
              <a:rPr lang="en-US"/>
              <a:t>
              </a:t>
            </a:r>
            <a:endParaRPr lang="en-US" dirty="0"/>
          </a:p>
        </p:txBody>
      </p:sp>
      <p:sp>
        <p:nvSpPr>
          <p:cNvPr id="10" name="Slide Number Placeholder 9"/>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57647779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5/14/26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9816870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702945"/>
            <a:ext cx="973956" cy="373761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673352" y="702945"/>
            <a:ext cx="4648867" cy="373761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5/14/26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65962730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32599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73352" y="723519"/>
            <a:ext cx="5797296" cy="89154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673352" y="1978534"/>
            <a:ext cx="5797296" cy="232648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866072" y="4679112"/>
            <a:ext cx="2065310" cy="242976"/>
          </a:xfrm>
          <a:prstGeom prst="rect">
            <a:avLst/>
          </a:prstGeom>
        </p:spPr>
        <p:txBody>
          <a:bodyPr vert="horz" lIns="91440" tIns="45720" rIns="91440" bIns="45720" rtlCol="0" anchor="ctr"/>
          <a:lstStyle>
            <a:lvl1pPr algn="r">
              <a:defRPr sz="788">
                <a:solidFill>
                  <a:schemeClr val="tx1">
                    <a:alpha val="70000"/>
                  </a:schemeClr>
                </a:solidFill>
              </a:defRPr>
            </a:lvl1pPr>
          </a:lstStyle>
          <a:p>
            <a:fld id="{3CBC1C18-307B-4F68-A007-B5B542270E8D}" type="datetimeFigureOut">
              <a:rPr lang="en-US" smtClean="0"/>
              <a:t>5/14/26</a:t>
            </a:fld>
            <a:endParaRPr lang="en-US" dirty="0"/>
          </a:p>
        </p:txBody>
      </p:sp>
      <p:sp>
        <p:nvSpPr>
          <p:cNvPr id="5" name="Footer Placeholder 4"/>
          <p:cNvSpPr>
            <a:spLocks noGrp="1"/>
          </p:cNvSpPr>
          <p:nvPr>
            <p:ph type="ftr" sz="quarter" idx="3"/>
          </p:nvPr>
        </p:nvSpPr>
        <p:spPr>
          <a:xfrm>
            <a:off x="1200150" y="4677156"/>
            <a:ext cx="4425892" cy="240030"/>
          </a:xfrm>
          <a:prstGeom prst="rect">
            <a:avLst/>
          </a:prstGeom>
        </p:spPr>
        <p:txBody>
          <a:bodyPr vert="horz" lIns="91440" tIns="45720" rIns="91440" bIns="45720" rtlCol="0" anchor="ctr"/>
          <a:lstStyle>
            <a:lvl1pPr algn="l">
              <a:defRPr sz="788">
                <a:solidFill>
                  <a:schemeClr val="tx1">
                    <a:alpha val="70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8069192" y="4663440"/>
            <a:ext cx="274320" cy="274320"/>
          </a:xfrm>
          <a:prstGeom prst="ellipse">
            <a:avLst/>
          </a:prstGeom>
          <a:solidFill>
            <a:srgbClr val="1D1D1D">
              <a:alpha val="70000"/>
            </a:srgbClr>
          </a:solidFill>
        </p:spPr>
        <p:txBody>
          <a:bodyPr vert="horz" lIns="18288" tIns="45720" rIns="18288" bIns="45720" rtlCol="0" anchor="ctr">
            <a:noAutofit/>
          </a:bodyPr>
          <a:lstStyle>
            <a:lvl1pPr algn="ctr">
              <a:defRPr sz="825" spc="0" baseline="0">
                <a:solidFill>
                  <a:srgbClr val="FFFFFF"/>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49413253"/>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hf sldNum="0" hdr="0" ftr="0" dt="0"/>
  <p:txStyles>
    <p:titleStyle>
      <a:lvl1pPr algn="ctr" defTabSz="685800" rtl="0" eaLnBrk="1" latinLnBrk="0" hangingPunct="1">
        <a:lnSpc>
          <a:spcPct val="90000"/>
        </a:lnSpc>
        <a:spcBef>
          <a:spcPct val="0"/>
        </a:spcBef>
        <a:buNone/>
        <a:defRPr sz="2100" kern="1200" cap="all" spc="150" baseline="0">
          <a:solidFill>
            <a:srgbClr val="262626"/>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53"/>
        <p:cNvGrpSpPr/>
        <p:nvPr/>
      </p:nvGrpSpPr>
      <p:grpSpPr>
        <a:xfrm>
          <a:off x="0" y="0"/>
          <a:ext cx="0" cy="0"/>
          <a:chOff x="0" y="0"/>
          <a:chExt cx="0" cy="0"/>
        </a:xfrm>
      </p:grpSpPr>
      <p:sp>
        <p:nvSpPr>
          <p:cNvPr id="60" name="Rectangle 59">
            <a:extLst>
              <a:ext uri="{FF2B5EF4-FFF2-40B4-BE49-F238E27FC236}">
                <a16:creationId xmlns:a16="http://schemas.microsoft.com/office/drawing/2014/main" id="{87D3A4E0-C908-4EA9-ABDF-E82AD6BDE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0" y="0"/>
            <a:ext cx="4572000" cy="514350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Google Shape;54;p13"/>
          <p:cNvSpPr txBox="1">
            <a:spLocks noGrp="1"/>
          </p:cNvSpPr>
          <p:nvPr>
            <p:ph type="ctrTitle"/>
          </p:nvPr>
        </p:nvSpPr>
        <p:spPr>
          <a:xfrm>
            <a:off x="1200150" y="1772492"/>
            <a:ext cx="6743700" cy="1269578"/>
          </a:xfrm>
          <a:prstGeom prst="rect">
            <a:avLst/>
          </a:prstGeom>
        </p:spPr>
        <p:txBody>
          <a:bodyPr spcFirstLastPara="1" lIns="91425" tIns="91425" rIns="91425" bIns="91425" anchorCtr="0">
            <a:normAutofit/>
          </a:bodyPr>
          <a:lstStyle/>
          <a:p>
            <a:pPr marL="0" lvl="0" indent="0" rtl="0">
              <a:spcBef>
                <a:spcPts val="0"/>
              </a:spcBef>
              <a:spcAft>
                <a:spcPts val="0"/>
              </a:spcAft>
              <a:buNone/>
            </a:pPr>
            <a:r>
              <a:rPr lang="en" dirty="0"/>
              <a:t>Photolithography</a:t>
            </a:r>
            <a:endParaRPr lang="en-IN" dirty="0"/>
          </a:p>
        </p:txBody>
      </p:sp>
      <p:sp>
        <p:nvSpPr>
          <p:cNvPr id="55" name="Google Shape;55;p13"/>
          <p:cNvSpPr txBox="1">
            <a:spLocks noGrp="1"/>
          </p:cNvSpPr>
          <p:nvPr>
            <p:ph type="subTitle" idx="1"/>
          </p:nvPr>
        </p:nvSpPr>
        <p:spPr>
          <a:xfrm>
            <a:off x="4823012" y="3435885"/>
            <a:ext cx="4389180" cy="1269578"/>
          </a:xfrm>
          <a:prstGeom prst="rect">
            <a:avLst/>
          </a:prstGeom>
        </p:spPr>
        <p:txBody>
          <a:bodyPr spcFirstLastPara="1" lIns="91425" tIns="91425" rIns="91425" bIns="91425" anchorCtr="0">
            <a:noAutofit/>
          </a:bodyPr>
          <a:lstStyle/>
          <a:p>
            <a:pPr marL="0" lvl="0" indent="0" algn="l" rtl="0">
              <a:lnSpc>
                <a:spcPct val="90000"/>
              </a:lnSpc>
              <a:spcBef>
                <a:spcPts val="0"/>
              </a:spcBef>
              <a:spcAft>
                <a:spcPts val="600"/>
              </a:spcAft>
              <a:buNone/>
            </a:pPr>
            <a:r>
              <a:rPr lang="en-IN" sz="1600" dirty="0">
                <a:solidFill>
                  <a:schemeClr val="bg1"/>
                </a:solidFill>
              </a:rPr>
              <a:t>By </a:t>
            </a:r>
          </a:p>
          <a:p>
            <a:pPr marL="0" lvl="0" indent="0" algn="l" rtl="0">
              <a:lnSpc>
                <a:spcPct val="90000"/>
              </a:lnSpc>
              <a:spcBef>
                <a:spcPts val="0"/>
              </a:spcBef>
              <a:spcAft>
                <a:spcPts val="600"/>
              </a:spcAft>
              <a:buNone/>
            </a:pPr>
            <a:r>
              <a:rPr lang="en-IN" sz="1600" dirty="0">
                <a:solidFill>
                  <a:schemeClr val="bg1"/>
                </a:solidFill>
              </a:rPr>
              <a:t>Jajapuram Shiva Sai</a:t>
            </a:r>
          </a:p>
          <a:p>
            <a:pPr marL="0" lvl="0" indent="0" algn="l" rtl="0">
              <a:lnSpc>
                <a:spcPct val="90000"/>
              </a:lnSpc>
              <a:spcBef>
                <a:spcPts val="0"/>
              </a:spcBef>
              <a:spcAft>
                <a:spcPts val="600"/>
              </a:spcAft>
              <a:buNone/>
            </a:pPr>
            <a:r>
              <a:rPr lang="en-IN" sz="1600" dirty="0">
                <a:solidFill>
                  <a:schemeClr val="bg1"/>
                </a:solidFill>
              </a:rPr>
              <a:t>Krish Garg</a:t>
            </a:r>
          </a:p>
        </p:txBody>
      </p:sp>
      <p:sp>
        <p:nvSpPr>
          <p:cNvPr id="3" name="TextBox 2">
            <a:extLst>
              <a:ext uri="{FF2B5EF4-FFF2-40B4-BE49-F238E27FC236}">
                <a16:creationId xmlns:a16="http://schemas.microsoft.com/office/drawing/2014/main" id="{496D4DB5-9741-800E-36CB-63B309A442EE}"/>
              </a:ext>
            </a:extLst>
          </p:cNvPr>
          <p:cNvSpPr txBox="1"/>
          <p:nvPr/>
        </p:nvSpPr>
        <p:spPr>
          <a:xfrm>
            <a:off x="0" y="3516617"/>
            <a:ext cx="4640192" cy="875624"/>
          </a:xfrm>
          <a:prstGeom prst="rect">
            <a:avLst/>
          </a:prstGeom>
          <a:noFill/>
        </p:spPr>
        <p:txBody>
          <a:bodyPr wrap="square">
            <a:spAutoFit/>
          </a:bodyPr>
          <a:lstStyle/>
          <a:p>
            <a:pPr marL="0" lvl="0" indent="0" algn="l" rtl="0">
              <a:lnSpc>
                <a:spcPct val="90000"/>
              </a:lnSpc>
              <a:spcBef>
                <a:spcPts val="0"/>
              </a:spcBef>
              <a:spcAft>
                <a:spcPts val="600"/>
              </a:spcAft>
              <a:buNone/>
            </a:pPr>
            <a:r>
              <a:rPr lang="en-IN" sz="1500" dirty="0">
                <a:solidFill>
                  <a:schemeClr val="bg1"/>
                </a:solidFill>
              </a:rPr>
              <a:t>Advanced experimental techniques in quantum materials</a:t>
            </a:r>
          </a:p>
          <a:p>
            <a:pPr marL="0" lvl="0" indent="0" algn="l" rtl="0">
              <a:lnSpc>
                <a:spcPct val="90000"/>
              </a:lnSpc>
              <a:spcBef>
                <a:spcPts val="0"/>
              </a:spcBef>
              <a:spcAft>
                <a:spcPts val="600"/>
              </a:spcAft>
              <a:buNone/>
            </a:pPr>
            <a:br>
              <a:rPr lang="en-IN" sz="1800" dirty="0">
                <a:solidFill>
                  <a:schemeClr val="bg1"/>
                </a:solidFill>
              </a:rPr>
            </a:br>
            <a:r>
              <a:rPr lang="en-IN" sz="1600" dirty="0">
                <a:solidFill>
                  <a:schemeClr val="bg1"/>
                </a:solidFill>
              </a:rPr>
              <a:t>spring semester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412625" y="432650"/>
            <a:ext cx="8419800" cy="585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Table of content</a:t>
            </a:r>
            <a:endParaRPr/>
          </a:p>
        </p:txBody>
      </p:sp>
      <p:sp>
        <p:nvSpPr>
          <p:cNvPr id="61" name="Google Shape;61;p14"/>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1. Fundamental Physics</a:t>
            </a:r>
            <a:endParaRPr/>
          </a:p>
          <a:p>
            <a:pPr marL="0" lvl="0" indent="0" algn="l" rtl="0">
              <a:spcBef>
                <a:spcPts val="1200"/>
              </a:spcBef>
              <a:spcAft>
                <a:spcPts val="0"/>
              </a:spcAft>
              <a:buNone/>
            </a:pPr>
            <a:r>
              <a:rPr lang="en"/>
              <a:t>2. Photochemistry</a:t>
            </a:r>
            <a:endParaRPr/>
          </a:p>
          <a:p>
            <a:pPr marL="0" lvl="0" indent="0" algn="l" rtl="0">
              <a:spcBef>
                <a:spcPts val="1200"/>
              </a:spcBef>
              <a:spcAft>
                <a:spcPts val="0"/>
              </a:spcAft>
              <a:buNone/>
            </a:pPr>
            <a:r>
              <a:rPr lang="en"/>
              <a:t>3. Fabrication Pipeline</a:t>
            </a:r>
            <a:endParaRPr/>
          </a:p>
          <a:p>
            <a:pPr marL="0" lvl="0" indent="0" algn="l" rtl="0">
              <a:spcBef>
                <a:spcPts val="1200"/>
              </a:spcBef>
              <a:spcAft>
                <a:spcPts val="0"/>
              </a:spcAft>
              <a:buNone/>
            </a:pPr>
            <a:r>
              <a:rPr lang="en"/>
              <a:t>4. Lab scale photolithography</a:t>
            </a:r>
            <a:endParaRPr/>
          </a:p>
          <a:p>
            <a:pPr marL="0" lvl="0" indent="0" algn="l" rtl="0">
              <a:spcBef>
                <a:spcPts val="1200"/>
              </a:spcBef>
              <a:spcAft>
                <a:spcPts val="1200"/>
              </a:spcAft>
              <a:buNone/>
            </a:pPr>
            <a:r>
              <a:rPr lang="en"/>
              <a:t>5. 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56200" y="18531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 sz="2830" b="1" dirty="0"/>
              <a:t>Section 01: Fundamental Physics</a:t>
            </a:r>
            <a:endParaRPr sz="2830" b="1" dirty="0"/>
          </a:p>
          <a:p>
            <a:pPr marL="0" lvl="0" indent="0" algn="l" rtl="0">
              <a:spcBef>
                <a:spcPts val="400"/>
              </a:spcBef>
              <a:spcAft>
                <a:spcPts val="0"/>
              </a:spcAft>
              <a:buSzPts val="990"/>
              <a:buNone/>
            </a:pPr>
            <a:endParaRPr sz="24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Clr>
                <a:schemeClr val="dk1"/>
              </a:buClr>
              <a:buSzPts val="1100"/>
              <a:buFont typeface="Arial"/>
              <a:buNone/>
            </a:pPr>
            <a:r>
              <a:rPr lang="en" sz="1300" b="1"/>
              <a:t>Diffraction &amp; The Rayleigh Criterion</a:t>
            </a:r>
            <a:endParaRPr/>
          </a:p>
        </p:txBody>
      </p:sp>
      <p:sp>
        <p:nvSpPr>
          <p:cNvPr id="72" name="Google Shape;72;p16"/>
          <p:cNvSpPr txBox="1">
            <a:spLocks noGrp="1"/>
          </p:cNvSpPr>
          <p:nvPr>
            <p:ph type="body" idx="1"/>
          </p:nvPr>
        </p:nvSpPr>
        <p:spPr>
          <a:xfrm>
            <a:off x="311700" y="1152475"/>
            <a:ext cx="7426200" cy="3746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sz="1300" b="1">
              <a:solidFill>
                <a:schemeClr val="dk1"/>
              </a:solidFill>
            </a:endParaRPr>
          </a:p>
          <a:p>
            <a:pPr marL="0" lvl="0" indent="0" algn="l" rtl="0">
              <a:spcBef>
                <a:spcPts val="40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Light passing through a mask slit diffracts, creating a blurry "Airy disk" on the wafer. If features are too close, these disks overlap, preventing resolution.</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The Resolution Limit (CD):</a:t>
            </a:r>
            <a:r>
              <a:rPr lang="en" sz="1100">
                <a:solidFill>
                  <a:schemeClr val="dk1"/>
                </a:solidFill>
              </a:rPr>
              <a:t> The minimum feature size (Critical Dimension) is governed by the Rayleigh Criterion:</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a:solidFill>
                  <a:srgbClr val="188038"/>
                </a:solidFill>
              </a:rPr>
              <a:t>CD = k₁ * (λ / NA)</a:t>
            </a:r>
            <a:endParaRPr sz="1100">
              <a:solidFill>
                <a:srgbClr val="188038"/>
              </a:solidFill>
            </a:endParaRPr>
          </a:p>
          <a:p>
            <a:pPr marL="457200" lvl="0" indent="-298450" algn="l" rtl="0">
              <a:spcBef>
                <a:spcPts val="1200"/>
              </a:spcBef>
              <a:spcAft>
                <a:spcPts val="0"/>
              </a:spcAft>
              <a:buClr>
                <a:schemeClr val="dk1"/>
              </a:buClr>
              <a:buSzPts val="1100"/>
              <a:buChar char="●"/>
            </a:pPr>
            <a:r>
              <a:rPr lang="en" sz="1100" b="1">
                <a:solidFill>
                  <a:schemeClr val="dk1"/>
                </a:solidFill>
              </a:rPr>
              <a:t>CD:</a:t>
            </a:r>
            <a:r>
              <a:rPr lang="en" sz="1100">
                <a:solidFill>
                  <a:schemeClr val="dk1"/>
                </a:solidFill>
              </a:rPr>
              <a:t> Smallest printable feature size (nm).</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λ (Wavelength):</a:t>
            </a:r>
            <a:r>
              <a:rPr lang="en" sz="1100">
                <a:solidFill>
                  <a:schemeClr val="dk1"/>
                </a:solidFill>
              </a:rPr>
              <a:t> Shorter is better </a:t>
            </a:r>
            <a:br>
              <a:rPr lang="en" sz="1100">
                <a:solidFill>
                  <a:schemeClr val="dk1"/>
                </a:solidFill>
              </a:rPr>
            </a:br>
            <a:r>
              <a:rPr lang="en" sz="1100">
                <a:solidFill>
                  <a:schemeClr val="dk1"/>
                </a:solidFill>
              </a:rPr>
              <a:t>(e.g., 193nm DUV to 13.5nm EUV).</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NA (Numerical Aperture):</a:t>
            </a:r>
            <a:r>
              <a:rPr lang="en" sz="1100">
                <a:solidFill>
                  <a:schemeClr val="dk1"/>
                </a:solidFill>
              </a:rPr>
              <a:t> Light-gathering ability of the lens.</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k₁:</a:t>
            </a:r>
            <a:r>
              <a:rPr lang="en" sz="1100">
                <a:solidFill>
                  <a:schemeClr val="dk1"/>
                </a:solidFill>
              </a:rPr>
              <a:t> Process factor (physical limit = 0.25).</a:t>
            </a:r>
            <a:endParaRPr sz="1100">
              <a:solidFill>
                <a:schemeClr val="dk1"/>
              </a:solidFill>
            </a:endParaRPr>
          </a:p>
          <a:p>
            <a:pPr marL="0" lvl="0" indent="0" algn="l" rtl="0">
              <a:spcBef>
                <a:spcPts val="1200"/>
              </a:spcBef>
              <a:spcAft>
                <a:spcPts val="1200"/>
              </a:spcAft>
              <a:buNone/>
            </a:pPr>
            <a:endParaRPr/>
          </a:p>
        </p:txBody>
      </p:sp>
      <p:pic>
        <p:nvPicPr>
          <p:cNvPr id="73" name="Google Shape;73;p16" title="deconresolutionfigure1.jpg"/>
          <p:cNvPicPr preferRelativeResize="0"/>
          <p:nvPr/>
        </p:nvPicPr>
        <p:blipFill>
          <a:blip r:embed="rId3">
            <a:alphaModFix/>
          </a:blip>
          <a:stretch>
            <a:fillRect/>
          </a:stretch>
        </p:blipFill>
        <p:spPr>
          <a:xfrm>
            <a:off x="4855938" y="2652050"/>
            <a:ext cx="4048125" cy="1276350"/>
          </a:xfrm>
          <a:prstGeom prst="rect">
            <a:avLst/>
          </a:prstGeom>
          <a:noFill/>
          <a:ln>
            <a:noFill/>
          </a:ln>
        </p:spPr>
      </p:pic>
      <p:sp>
        <p:nvSpPr>
          <p:cNvPr id="74" name="Google Shape;74;p16"/>
          <p:cNvSpPr/>
          <p:nvPr/>
        </p:nvSpPr>
        <p:spPr>
          <a:xfrm>
            <a:off x="7228000" y="3766450"/>
            <a:ext cx="569700" cy="195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Clr>
                <a:schemeClr val="dk1"/>
              </a:buClr>
              <a:buSzPts val="1100"/>
              <a:buFont typeface="Arial"/>
              <a:buNone/>
            </a:pPr>
            <a:r>
              <a:rPr lang="en" sz="1300" b="1"/>
              <a:t>Numerical Aperture (NA) &amp; Immersion</a:t>
            </a:r>
            <a:endParaRPr/>
          </a:p>
        </p:txBody>
      </p:sp>
      <p:sp>
        <p:nvSpPr>
          <p:cNvPr id="80" name="Google Shape;80;p17"/>
          <p:cNvSpPr txBox="1">
            <a:spLocks noGrp="1"/>
          </p:cNvSpPr>
          <p:nvPr>
            <p:ph type="body" idx="1"/>
          </p:nvPr>
        </p:nvSpPr>
        <p:spPr>
          <a:xfrm>
            <a:off x="311700" y="1152475"/>
            <a:ext cx="44793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NA characterizes the range of angles over which the optical system can accept light. Higher NA captures higher-order diffracted light, yielding finer details.</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a:solidFill>
                  <a:srgbClr val="188038"/>
                </a:solidFill>
              </a:rPr>
              <a:t>NA = n * sin(θ)</a:t>
            </a:r>
            <a:endParaRPr sz="1100">
              <a:solidFill>
                <a:srgbClr val="188038"/>
              </a:solidFill>
            </a:endParaRPr>
          </a:p>
          <a:p>
            <a:pPr marL="457200" lvl="0" indent="-298450" algn="l" rtl="0">
              <a:spcBef>
                <a:spcPts val="1200"/>
              </a:spcBef>
              <a:spcAft>
                <a:spcPts val="0"/>
              </a:spcAft>
              <a:buClr>
                <a:schemeClr val="dk1"/>
              </a:buClr>
              <a:buSzPts val="1100"/>
              <a:buChar char="●"/>
            </a:pPr>
            <a:r>
              <a:rPr lang="en" sz="1100" b="1">
                <a:solidFill>
                  <a:schemeClr val="dk1"/>
                </a:solidFill>
              </a:rPr>
              <a:t>n:</a:t>
            </a:r>
            <a:r>
              <a:rPr lang="en" sz="1100">
                <a:solidFill>
                  <a:schemeClr val="dk1"/>
                </a:solidFill>
              </a:rPr>
              <a:t> Refractive index of the medium.</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θ:</a:t>
            </a:r>
            <a:r>
              <a:rPr lang="en" sz="1100">
                <a:solidFill>
                  <a:schemeClr val="dk1"/>
                </a:solidFill>
              </a:rPr>
              <a:t> Acceptance half-angle.</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Immersion Lithography:</a:t>
            </a:r>
            <a:r>
              <a:rPr lang="en" sz="1100">
                <a:solidFill>
                  <a:schemeClr val="dk1"/>
                </a:solidFill>
              </a:rPr>
              <a:t> By injecting ultra-pure water (n = 1.44) between the lens and the wafer, engineers pushed NA past the theoretical air limit of 1.0, reaching up to 1.35.</a:t>
            </a:r>
            <a:endParaRPr sz="1100">
              <a:solidFill>
                <a:schemeClr val="dk1"/>
              </a:solidFill>
            </a:endParaRPr>
          </a:p>
          <a:p>
            <a:pPr marL="0" lvl="0" indent="0" algn="l" rtl="0">
              <a:spcBef>
                <a:spcPts val="1200"/>
              </a:spcBef>
              <a:spcAft>
                <a:spcPts val="1200"/>
              </a:spcAft>
              <a:buNone/>
            </a:pPr>
            <a:endParaRPr/>
          </a:p>
        </p:txBody>
      </p:sp>
      <p:pic>
        <p:nvPicPr>
          <p:cNvPr id="81" name="Google Shape;81;p17" title="Screenshot 2026-05-12 at 16.50.08.png"/>
          <p:cNvPicPr preferRelativeResize="0"/>
          <p:nvPr/>
        </p:nvPicPr>
        <p:blipFill>
          <a:blip r:embed="rId3">
            <a:alphaModFix/>
          </a:blip>
          <a:stretch>
            <a:fillRect/>
          </a:stretch>
        </p:blipFill>
        <p:spPr>
          <a:xfrm>
            <a:off x="4963450" y="1268732"/>
            <a:ext cx="3868850" cy="300778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Clr>
                <a:schemeClr val="dk1"/>
              </a:buClr>
              <a:buSzPts val="1100"/>
              <a:buFont typeface="Arial"/>
              <a:buNone/>
            </a:pPr>
            <a:r>
              <a:rPr lang="en" sz="1300" b="1"/>
              <a:t>The Depth of Focus (DOF) Dilemma</a:t>
            </a:r>
            <a:endParaRPr/>
          </a:p>
        </p:txBody>
      </p:sp>
      <p:sp>
        <p:nvSpPr>
          <p:cNvPr id="87" name="Google Shape;87;p18"/>
          <p:cNvSpPr txBox="1">
            <a:spLocks noGrp="1"/>
          </p:cNvSpPr>
          <p:nvPr>
            <p:ph type="body" idx="1"/>
          </p:nvPr>
        </p:nvSpPr>
        <p:spPr>
          <a:xfrm>
            <a:off x="311700" y="1152475"/>
            <a:ext cx="39921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DOF is the vertical distance over which the projected image remains sharp enough to properly expose the photoresist.</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a:solidFill>
                  <a:srgbClr val="188038"/>
                </a:solidFill>
              </a:rPr>
              <a:t>DOF = k₂ * (λ / NA²)</a:t>
            </a:r>
            <a:endParaRPr sz="1100">
              <a:solidFill>
                <a:srgbClr val="188038"/>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The Trade-off:</a:t>
            </a:r>
            <a:r>
              <a:rPr lang="en" sz="1100">
                <a:solidFill>
                  <a:schemeClr val="dk1"/>
                </a:solidFill>
              </a:rPr>
              <a:t> Because NA is squared in the denominator, increasing NA to improve resolution drastically shrinks the Depth of Focus. Modern High-NA systems have a DOF of just a few dozen nanometers, requiring near-atomic substrate flatness.</a:t>
            </a:r>
            <a:endParaRPr sz="1100">
              <a:solidFill>
                <a:schemeClr val="dk1"/>
              </a:solidFill>
            </a:endParaRPr>
          </a:p>
          <a:p>
            <a:pPr marL="0" lvl="0" indent="0" algn="l" rtl="0">
              <a:spcBef>
                <a:spcPts val="1200"/>
              </a:spcBef>
              <a:spcAft>
                <a:spcPts val="1200"/>
              </a:spcAft>
              <a:buNone/>
            </a:pPr>
            <a:endParaRPr/>
          </a:p>
        </p:txBody>
      </p:sp>
      <p:pic>
        <p:nvPicPr>
          <p:cNvPr id="88" name="Google Shape;88;p18" title="DepthOfFocus.png"/>
          <p:cNvPicPr preferRelativeResize="0"/>
          <p:nvPr/>
        </p:nvPicPr>
        <p:blipFill>
          <a:blip r:embed="rId3">
            <a:alphaModFix/>
          </a:blip>
          <a:stretch>
            <a:fillRect/>
          </a:stretch>
        </p:blipFill>
        <p:spPr>
          <a:xfrm>
            <a:off x="4175374" y="1546025"/>
            <a:ext cx="5194373" cy="2445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4" name="Google Shape;94;p19"/>
          <p:cNvSpPr txBox="1">
            <a:spLocks noGrp="1"/>
          </p:cNvSpPr>
          <p:nvPr>
            <p:ph type="body" idx="1"/>
          </p:nvPr>
        </p:nvSpPr>
        <p:spPr>
          <a:xfrm>
            <a:off x="311699" y="1152475"/>
            <a:ext cx="599879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dirty="0">
                <a:solidFill>
                  <a:schemeClr val="dk1"/>
                </a:solidFill>
              </a:rPr>
              <a:t>The Concept:</a:t>
            </a:r>
            <a:r>
              <a:rPr lang="en" sz="1100" dirty="0">
                <a:solidFill>
                  <a:schemeClr val="dk1"/>
                </a:solidFill>
              </a:rPr>
              <a:t> At 13.5nm (Extreme Ultraviolet), light is absorbed by literally all matter, including standard quartz lenses.</a:t>
            </a:r>
            <a:endParaRPr sz="1100" dirty="0">
              <a:solidFill>
                <a:schemeClr val="dk1"/>
              </a:solidFill>
            </a:endParaRPr>
          </a:p>
          <a:p>
            <a:pPr marL="0" lvl="0" indent="0" algn="l" rtl="0">
              <a:spcBef>
                <a:spcPts val="1200"/>
              </a:spcBef>
              <a:spcAft>
                <a:spcPts val="0"/>
              </a:spcAft>
              <a:buClr>
                <a:schemeClr val="dk1"/>
              </a:buClr>
              <a:buSzPts val="1100"/>
              <a:buFont typeface="Arial"/>
              <a:buNone/>
            </a:pPr>
            <a:r>
              <a:rPr lang="en" sz="1100" b="1" dirty="0">
                <a:solidFill>
                  <a:schemeClr val="dk1"/>
                </a:solidFill>
              </a:rPr>
              <a:t>Catoptric Optics:</a:t>
            </a:r>
            <a:r>
              <a:rPr lang="en" sz="1100" dirty="0">
                <a:solidFill>
                  <a:schemeClr val="dk1"/>
                </a:solidFill>
              </a:rPr>
              <a:t> EUV requires mirror-based optics using Bragg Reflectors—alternating atomic layers of Molybdenum and Silicon.</a:t>
            </a:r>
            <a:endParaRPr sz="1100" dirty="0">
              <a:solidFill>
                <a:schemeClr val="dk1"/>
              </a:solidFill>
            </a:endParaRPr>
          </a:p>
          <a:p>
            <a:pPr marL="0" lvl="0" indent="0" algn="l" rtl="0">
              <a:spcBef>
                <a:spcPts val="1200"/>
              </a:spcBef>
              <a:spcAft>
                <a:spcPts val="0"/>
              </a:spcAft>
              <a:buClr>
                <a:schemeClr val="dk1"/>
              </a:buClr>
              <a:buSzPts val="1100"/>
              <a:buFont typeface="Arial"/>
              <a:buNone/>
            </a:pPr>
            <a:r>
              <a:rPr lang="en" sz="1100" b="1" dirty="0">
                <a:solidFill>
                  <a:schemeClr val="dk1"/>
                </a:solidFill>
              </a:rPr>
              <a:t>Bragg's Law:</a:t>
            </a:r>
            <a:r>
              <a:rPr lang="en" sz="1100" dirty="0">
                <a:solidFill>
                  <a:schemeClr val="dk1"/>
                </a:solidFill>
              </a:rPr>
              <a:t> </a:t>
            </a:r>
            <a:r>
              <a:rPr lang="en" sz="1100" dirty="0" err="1">
                <a:solidFill>
                  <a:srgbClr val="188038"/>
                </a:solidFill>
              </a:rPr>
              <a:t>nλ</a:t>
            </a:r>
            <a:r>
              <a:rPr lang="en" sz="1100" dirty="0">
                <a:solidFill>
                  <a:srgbClr val="188038"/>
                </a:solidFill>
              </a:rPr>
              <a:t> = 2d * sin(</a:t>
            </a:r>
            <a:r>
              <a:rPr lang="en" sz="1100" dirty="0" err="1">
                <a:solidFill>
                  <a:srgbClr val="188038"/>
                </a:solidFill>
              </a:rPr>
              <a:t>θ</a:t>
            </a:r>
            <a:r>
              <a:rPr lang="en" sz="1100" dirty="0">
                <a:solidFill>
                  <a:srgbClr val="188038"/>
                </a:solidFill>
              </a:rPr>
              <a:t>)</a:t>
            </a:r>
            <a:endParaRPr sz="1100" dirty="0">
              <a:solidFill>
                <a:srgbClr val="188038"/>
              </a:solidFill>
            </a:endParaRPr>
          </a:p>
          <a:p>
            <a:pPr marL="0" lvl="0" indent="0" algn="l" rtl="0">
              <a:spcBef>
                <a:spcPts val="1200"/>
              </a:spcBef>
              <a:spcAft>
                <a:spcPts val="1200"/>
              </a:spcAft>
              <a:buClr>
                <a:schemeClr val="dk1"/>
              </a:buClr>
              <a:buSzPts val="1100"/>
              <a:buFont typeface="Arial"/>
              <a:buNone/>
            </a:pPr>
            <a:r>
              <a:rPr lang="en" sz="1100" dirty="0">
                <a:solidFill>
                  <a:schemeClr val="dk1"/>
                </a:solidFill>
              </a:rPr>
              <a:t>Reflections from each layer must perfectly, constructively interfere for the mirror to function</a:t>
            </a:r>
            <a:endParaRPr dirty="0"/>
          </a:p>
        </p:txBody>
      </p:sp>
      <p:sp>
        <p:nvSpPr>
          <p:cNvPr id="93" name="Google Shape;93;p19"/>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Clr>
                <a:schemeClr val="dk1"/>
              </a:buClr>
              <a:buSzPts val="1100"/>
              <a:buFont typeface="Arial"/>
              <a:buNone/>
            </a:pPr>
            <a:r>
              <a:rPr lang="en" sz="1300" b="1"/>
              <a:t>EUV Optics &amp; Bragg Reflectors</a:t>
            </a:r>
            <a:endParaRPr/>
          </a:p>
        </p:txBody>
      </p:sp>
      <p:pic>
        <p:nvPicPr>
          <p:cNvPr id="95" name="Google Shape;95;p19" title="euv-inspiring-technology-zeiss-smt.jpg"/>
          <p:cNvPicPr preferRelativeResize="0"/>
          <p:nvPr/>
        </p:nvPicPr>
        <p:blipFill>
          <a:blip r:embed="rId3">
            <a:alphaModFix/>
          </a:blip>
          <a:stretch>
            <a:fillRect/>
          </a:stretch>
        </p:blipFill>
        <p:spPr>
          <a:xfrm>
            <a:off x="412374" y="2921687"/>
            <a:ext cx="3800951" cy="2138675"/>
          </a:xfrm>
          <a:prstGeom prst="rect">
            <a:avLst/>
          </a:prstGeom>
          <a:noFill/>
          <a:ln>
            <a:noFill/>
          </a:ln>
        </p:spPr>
      </p:pic>
      <p:pic>
        <p:nvPicPr>
          <p:cNvPr id="96" name="Google Shape;96;p19" title="dielectric_mirror.jpg"/>
          <p:cNvPicPr preferRelativeResize="0"/>
          <p:nvPr/>
        </p:nvPicPr>
        <p:blipFill>
          <a:blip r:embed="rId4">
            <a:alphaModFix/>
          </a:blip>
          <a:stretch>
            <a:fillRect/>
          </a:stretch>
        </p:blipFill>
        <p:spPr>
          <a:xfrm>
            <a:off x="5215893" y="2921687"/>
            <a:ext cx="3800950" cy="222181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356200" y="18531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b="1" dirty="0"/>
              <a:t>Section 02: Photo Chemistry &amp; Deposition</a:t>
            </a:r>
            <a:endParaRPr b="1" dirty="0"/>
          </a:p>
          <a:p>
            <a:pPr marL="0" lvl="0" indent="0" algn="l" rtl="0">
              <a:spcBef>
                <a:spcPts val="400"/>
              </a:spcBef>
              <a:spcAft>
                <a:spcPts val="0"/>
              </a:spcAft>
              <a:buSzPts val="990"/>
              <a:buNone/>
            </a:pPr>
            <a:endParaRPr sz="293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1100" b="1"/>
              <a:t> Photoresist Types: Positive vs. Negative</a:t>
            </a:r>
            <a:endParaRPr sz="1100" b="1"/>
          </a:p>
          <a:p>
            <a:pPr marL="0" lvl="0" indent="0" algn="l" rtl="0">
              <a:spcBef>
                <a:spcPts val="1200"/>
              </a:spcBef>
              <a:spcAft>
                <a:spcPts val="0"/>
              </a:spcAft>
              <a:buNone/>
            </a:pPr>
            <a:endParaRPr/>
          </a:p>
        </p:txBody>
      </p:sp>
      <p:pic>
        <p:nvPicPr>
          <p:cNvPr id="107" name="Google Shape;107;p21" title="photoresist.jpg"/>
          <p:cNvPicPr preferRelativeResize="0"/>
          <p:nvPr/>
        </p:nvPicPr>
        <p:blipFill>
          <a:blip r:embed="rId3">
            <a:alphaModFix/>
          </a:blip>
          <a:stretch>
            <a:fillRect/>
          </a:stretch>
        </p:blipFill>
        <p:spPr>
          <a:xfrm>
            <a:off x="899250" y="1145450"/>
            <a:ext cx="4359550" cy="3181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2"/>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0"/>
              </a:spcAft>
              <a:buClr>
                <a:schemeClr val="dk1"/>
              </a:buClr>
              <a:buSzPct val="100000"/>
              <a:buFont typeface="Arial"/>
              <a:buNone/>
            </a:pPr>
            <a:r>
              <a:rPr lang="en" sz="1100" b="1"/>
              <a:t> Photoresist Types: Positive vs. Negative</a:t>
            </a:r>
            <a:endParaRPr sz="1100" b="1"/>
          </a:p>
          <a:p>
            <a:pPr marL="0" lvl="0" indent="0" algn="l" rtl="0">
              <a:spcBef>
                <a:spcPts val="1200"/>
              </a:spcBef>
              <a:spcAft>
                <a:spcPts val="0"/>
              </a:spcAft>
              <a:buNone/>
            </a:pPr>
            <a:endParaRPr/>
          </a:p>
        </p:txBody>
      </p:sp>
      <p:sp>
        <p:nvSpPr>
          <p:cNvPr id="113" name="Google Shape;113;p22"/>
          <p:cNvSpPr txBox="1">
            <a:spLocks noGrp="1"/>
          </p:cNvSpPr>
          <p:nvPr>
            <p:ph type="body" idx="1"/>
          </p:nvPr>
        </p:nvSpPr>
        <p:spPr>
          <a:xfrm>
            <a:off x="311700" y="1152475"/>
            <a:ext cx="6601500" cy="3416400"/>
          </a:xfrm>
          <a:prstGeom prst="rect">
            <a:avLst/>
          </a:prstGeom>
        </p:spPr>
        <p:txBody>
          <a:bodyPr spcFirstLastPara="1" wrap="square" lIns="91425" tIns="91425" rIns="91425" bIns="91425" anchor="t" anchorCtr="0">
            <a:normAutofit/>
          </a:bodyPr>
          <a:lstStyle/>
          <a:p>
            <a:pPr marL="457200" lvl="0" indent="-298450" algn="l" rtl="0">
              <a:spcBef>
                <a:spcPts val="1200"/>
              </a:spcBef>
              <a:spcAft>
                <a:spcPts val="0"/>
              </a:spcAft>
              <a:buClr>
                <a:schemeClr val="dk1"/>
              </a:buClr>
              <a:buSzPts val="1100"/>
              <a:buChar char="●"/>
            </a:pPr>
            <a:r>
              <a:rPr lang="en" sz="1100" b="1">
                <a:solidFill>
                  <a:schemeClr val="dk1"/>
                </a:solidFill>
              </a:rPr>
              <a:t>The Concept:</a:t>
            </a:r>
            <a:r>
              <a:rPr lang="en" sz="1100">
                <a:solidFill>
                  <a:schemeClr val="dk1"/>
                </a:solidFill>
              </a:rPr>
              <a:t> Photoresists are light-sensitive polymeric liquids. Depending on their chemical makeup, they react to UV/EUV light in entirely opposite ways, dictating how the mask pattern transfers to the wafer.</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Positive Photoresist (+ve):</a:t>
            </a:r>
            <a:r>
              <a:rPr lang="en" sz="1100">
                <a:solidFill>
                  <a:schemeClr val="dk1"/>
                </a:solidFill>
              </a:rPr>
              <a:t> * </a:t>
            </a:r>
            <a:r>
              <a:rPr lang="en" sz="1100" b="1">
                <a:solidFill>
                  <a:schemeClr val="dk1"/>
                </a:solidFill>
              </a:rPr>
              <a:t>Mechanism:</a:t>
            </a:r>
            <a:r>
              <a:rPr lang="en" sz="1100">
                <a:solidFill>
                  <a:schemeClr val="dk1"/>
                </a:solidFill>
              </a:rPr>
              <a:t> Exposure to light </a:t>
            </a:r>
            <a:r>
              <a:rPr lang="en" sz="1100" i="1">
                <a:solidFill>
                  <a:schemeClr val="dk1"/>
                </a:solidFill>
              </a:rPr>
              <a:t>weakens</a:t>
            </a:r>
            <a:r>
              <a:rPr lang="en" sz="1100">
                <a:solidFill>
                  <a:schemeClr val="dk1"/>
                </a:solidFill>
              </a:rPr>
              <a:t> the polymer by breaking its chemical bonds (chain scission) or triggering an acid-catalyzed deprotection reaction.</a:t>
            </a:r>
            <a:endParaRPr sz="1100">
              <a:solidFill>
                <a:schemeClr val="dk1"/>
              </a:solidFill>
            </a:endParaRPr>
          </a:p>
          <a:p>
            <a:pPr marL="914400" lvl="1" indent="-298450" algn="l" rtl="0">
              <a:spcBef>
                <a:spcPts val="0"/>
              </a:spcBef>
              <a:spcAft>
                <a:spcPts val="0"/>
              </a:spcAft>
              <a:buClr>
                <a:schemeClr val="dk1"/>
              </a:buClr>
              <a:buSzPts val="1100"/>
              <a:buChar char="○"/>
            </a:pPr>
            <a:r>
              <a:rPr lang="en" sz="1100" b="1">
                <a:solidFill>
                  <a:schemeClr val="dk1"/>
                </a:solidFill>
              </a:rPr>
              <a:t>Result:</a:t>
            </a:r>
            <a:r>
              <a:rPr lang="en" sz="1100">
                <a:solidFill>
                  <a:schemeClr val="dk1"/>
                </a:solidFill>
              </a:rPr>
              <a:t> The areas exposed to light become </a:t>
            </a:r>
            <a:r>
              <a:rPr lang="en" sz="1100" i="1">
                <a:solidFill>
                  <a:schemeClr val="dk1"/>
                </a:solidFill>
              </a:rPr>
              <a:t>highly soluble</a:t>
            </a:r>
            <a:r>
              <a:rPr lang="en" sz="1100">
                <a:solidFill>
                  <a:schemeClr val="dk1"/>
                </a:solidFill>
              </a:rPr>
              <a:t> in the chemical developer.</a:t>
            </a:r>
            <a:endParaRPr sz="1100">
              <a:solidFill>
                <a:schemeClr val="dk1"/>
              </a:solidFill>
            </a:endParaRPr>
          </a:p>
          <a:p>
            <a:pPr marL="914400" lvl="1" indent="-298450" algn="l" rtl="0">
              <a:spcBef>
                <a:spcPts val="0"/>
              </a:spcBef>
              <a:spcAft>
                <a:spcPts val="0"/>
              </a:spcAft>
              <a:buClr>
                <a:schemeClr val="dk1"/>
              </a:buClr>
              <a:buSzPts val="1100"/>
              <a:buChar char="○"/>
            </a:pPr>
            <a:r>
              <a:rPr lang="en" sz="1100" b="1">
                <a:solidFill>
                  <a:schemeClr val="dk1"/>
                </a:solidFill>
              </a:rPr>
              <a:t>Outcome:</a:t>
            </a:r>
            <a:r>
              <a:rPr lang="en" sz="1100">
                <a:solidFill>
                  <a:schemeClr val="dk1"/>
                </a:solidFill>
              </a:rPr>
              <a:t> The resist exactly matches the mask. Where the mask was transparent, the resist is washed away, leaving a hole. This is the industry standard for high-resolution logic fabrication.</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Negative Photoresist (-ve):</a:t>
            </a:r>
            <a:endParaRPr sz="1100" b="1">
              <a:solidFill>
                <a:schemeClr val="dk1"/>
              </a:solidFill>
            </a:endParaRPr>
          </a:p>
          <a:p>
            <a:pPr marL="914400" lvl="1" indent="-298450" algn="l" rtl="0">
              <a:spcBef>
                <a:spcPts val="0"/>
              </a:spcBef>
              <a:spcAft>
                <a:spcPts val="0"/>
              </a:spcAft>
              <a:buClr>
                <a:schemeClr val="dk1"/>
              </a:buClr>
              <a:buSzPts val="1100"/>
              <a:buChar char="○"/>
            </a:pPr>
            <a:r>
              <a:rPr lang="en" sz="1100" b="1">
                <a:solidFill>
                  <a:schemeClr val="dk1"/>
                </a:solidFill>
              </a:rPr>
              <a:t>Mechanism:</a:t>
            </a:r>
            <a:r>
              <a:rPr lang="en" sz="1100">
                <a:solidFill>
                  <a:schemeClr val="dk1"/>
                </a:solidFill>
              </a:rPr>
              <a:t> Exposure to light </a:t>
            </a:r>
            <a:r>
              <a:rPr lang="en" sz="1100" i="1">
                <a:solidFill>
                  <a:schemeClr val="dk1"/>
                </a:solidFill>
              </a:rPr>
              <a:t>strengthens</a:t>
            </a:r>
            <a:r>
              <a:rPr lang="en" sz="1100">
                <a:solidFill>
                  <a:schemeClr val="dk1"/>
                </a:solidFill>
              </a:rPr>
              <a:t> the polymer by causing the molecules to bond together into a rigid 3D network (cross-linking).</a:t>
            </a:r>
            <a:endParaRPr sz="1100">
              <a:solidFill>
                <a:schemeClr val="dk1"/>
              </a:solidFill>
            </a:endParaRPr>
          </a:p>
          <a:p>
            <a:pPr marL="914400" lvl="1" indent="-298450" algn="l" rtl="0">
              <a:spcBef>
                <a:spcPts val="0"/>
              </a:spcBef>
              <a:spcAft>
                <a:spcPts val="0"/>
              </a:spcAft>
              <a:buClr>
                <a:schemeClr val="dk1"/>
              </a:buClr>
              <a:buSzPts val="1100"/>
              <a:buChar char="○"/>
            </a:pPr>
            <a:r>
              <a:rPr lang="en" sz="1100" b="1">
                <a:solidFill>
                  <a:schemeClr val="dk1"/>
                </a:solidFill>
              </a:rPr>
              <a:t>Result:</a:t>
            </a:r>
            <a:r>
              <a:rPr lang="en" sz="1100">
                <a:solidFill>
                  <a:schemeClr val="dk1"/>
                </a:solidFill>
              </a:rPr>
              <a:t> The areas exposed to light become </a:t>
            </a:r>
            <a:r>
              <a:rPr lang="en" sz="1100" i="1">
                <a:solidFill>
                  <a:schemeClr val="dk1"/>
                </a:solidFill>
              </a:rPr>
              <a:t>insoluble</a:t>
            </a:r>
            <a:r>
              <a:rPr lang="en" sz="1100">
                <a:solidFill>
                  <a:schemeClr val="dk1"/>
                </a:solidFill>
              </a:rPr>
              <a:t> in the developer, while the unexposed areas are washed away.</a:t>
            </a:r>
            <a:endParaRPr sz="1100">
              <a:solidFill>
                <a:schemeClr val="dk1"/>
              </a:solidFill>
            </a:endParaRPr>
          </a:p>
          <a:p>
            <a:pPr marL="914400" lvl="1" indent="-298450" algn="l" rtl="0">
              <a:spcBef>
                <a:spcPts val="0"/>
              </a:spcBef>
              <a:spcAft>
                <a:spcPts val="0"/>
              </a:spcAft>
              <a:buClr>
                <a:schemeClr val="dk1"/>
              </a:buClr>
              <a:buSzPts val="1100"/>
              <a:buChar char="○"/>
            </a:pPr>
            <a:r>
              <a:rPr lang="en" sz="1100" b="1">
                <a:solidFill>
                  <a:schemeClr val="dk1"/>
                </a:solidFill>
              </a:rPr>
              <a:t>Outcome:</a:t>
            </a:r>
            <a:r>
              <a:rPr lang="en" sz="1100">
                <a:solidFill>
                  <a:schemeClr val="dk1"/>
                </a:solidFill>
              </a:rPr>
              <a:t> The resist forms a photographic negative of the mask. Where the mask was transparent, the resist remains as a solid structure. Often used for packaging, MEMS, or specific lift-off processes.</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ct val="84615"/>
              <a:buFont typeface="Arial"/>
              <a:buNone/>
            </a:pPr>
            <a:r>
              <a:rPr lang="en" sz="1300" b="1"/>
              <a:t>Spin Coating &amp; The Physics of Deposition</a:t>
            </a:r>
            <a:endParaRPr sz="1300" b="1"/>
          </a:p>
          <a:p>
            <a:pPr marL="0" lvl="0" indent="0" algn="l" rtl="0">
              <a:spcBef>
                <a:spcPts val="400"/>
              </a:spcBef>
              <a:spcAft>
                <a:spcPts val="0"/>
              </a:spcAft>
              <a:buNone/>
            </a:pPr>
            <a:endParaRPr/>
          </a:p>
        </p:txBody>
      </p:sp>
      <p:sp>
        <p:nvSpPr>
          <p:cNvPr id="119" name="Google Shape;119;p23"/>
          <p:cNvSpPr txBox="1">
            <a:spLocks noGrp="1"/>
          </p:cNvSpPr>
          <p:nvPr>
            <p:ph type="body" idx="1"/>
          </p:nvPr>
        </p:nvSpPr>
        <p:spPr>
          <a:xfrm>
            <a:off x="311700" y="1152475"/>
            <a:ext cx="49893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dirty="0">
                <a:solidFill>
                  <a:schemeClr val="dk1"/>
                </a:solidFill>
              </a:rPr>
              <a:t>The Concept:</a:t>
            </a:r>
            <a:r>
              <a:rPr lang="en" sz="1100" dirty="0">
                <a:solidFill>
                  <a:schemeClr val="dk1"/>
                </a:solidFill>
              </a:rPr>
              <a:t> Traditionally, photoresist is applied as a liquid. The wafer is rotated at high speeds (1,000–5,000 RPM) to spread the fluid into a uniform, nanometer-thick layer via centrifugal force.</a:t>
            </a:r>
            <a:endParaRPr sz="1100" dirty="0">
              <a:solidFill>
                <a:schemeClr val="dk1"/>
              </a:solidFill>
            </a:endParaRPr>
          </a:p>
          <a:p>
            <a:pPr marL="0" lvl="0" indent="0" algn="l" rtl="0">
              <a:spcBef>
                <a:spcPts val="1200"/>
              </a:spcBef>
              <a:spcAft>
                <a:spcPts val="0"/>
              </a:spcAft>
              <a:buClr>
                <a:schemeClr val="dk1"/>
              </a:buClr>
              <a:buSzPts val="1100"/>
              <a:buFont typeface="Arial"/>
              <a:buNone/>
            </a:pPr>
            <a:r>
              <a:rPr lang="en" sz="1100" b="1" dirty="0">
                <a:solidFill>
                  <a:schemeClr val="dk1"/>
                </a:solidFill>
              </a:rPr>
              <a:t>Thickness Control:</a:t>
            </a:r>
            <a:r>
              <a:rPr lang="en" sz="1100" dirty="0">
                <a:solidFill>
                  <a:schemeClr val="dk1"/>
                </a:solidFill>
              </a:rPr>
              <a:t> </a:t>
            </a:r>
            <a:r>
              <a:rPr lang="en" sz="1100" dirty="0">
                <a:solidFill>
                  <a:srgbClr val="188038"/>
                </a:solidFill>
              </a:rPr>
              <a:t>h = k * (P² / √</a:t>
            </a:r>
            <a:r>
              <a:rPr lang="en" sz="1100" dirty="0" err="1">
                <a:solidFill>
                  <a:srgbClr val="188038"/>
                </a:solidFill>
              </a:rPr>
              <a:t>ω</a:t>
            </a:r>
            <a:r>
              <a:rPr lang="en" sz="1100" dirty="0">
                <a:solidFill>
                  <a:srgbClr val="188038"/>
                </a:solidFill>
              </a:rPr>
              <a:t>)</a:t>
            </a:r>
            <a:endParaRPr sz="1100" dirty="0">
              <a:solidFill>
                <a:srgbClr val="188038"/>
              </a:solidFill>
            </a:endParaRPr>
          </a:p>
          <a:p>
            <a:pPr marL="0" lvl="0" indent="0" algn="l" rtl="0">
              <a:spcBef>
                <a:spcPts val="1200"/>
              </a:spcBef>
              <a:spcAft>
                <a:spcPts val="0"/>
              </a:spcAft>
              <a:buClr>
                <a:schemeClr val="dk1"/>
              </a:buClr>
              <a:buSzPts val="1100"/>
              <a:buFont typeface="Arial"/>
              <a:buNone/>
            </a:pPr>
            <a:r>
              <a:rPr lang="en" sz="1100" dirty="0">
                <a:solidFill>
                  <a:schemeClr val="dk1"/>
                </a:solidFill>
              </a:rPr>
              <a:t>The final thickness (</a:t>
            </a:r>
            <a:r>
              <a:rPr lang="en" sz="1100" dirty="0">
                <a:solidFill>
                  <a:srgbClr val="188038"/>
                </a:solidFill>
              </a:rPr>
              <a:t>h</a:t>
            </a:r>
            <a:r>
              <a:rPr lang="en" sz="1100" dirty="0">
                <a:solidFill>
                  <a:schemeClr val="dk1"/>
                </a:solidFill>
              </a:rPr>
              <a:t>) is inversely proportional to the square root of the angular velocity (</a:t>
            </a:r>
            <a:r>
              <a:rPr lang="en" sz="1100" dirty="0" err="1">
                <a:solidFill>
                  <a:srgbClr val="188038"/>
                </a:solidFill>
              </a:rPr>
              <a:t>ω</a:t>
            </a:r>
            <a:r>
              <a:rPr lang="en" sz="1100" dirty="0">
                <a:solidFill>
                  <a:schemeClr val="dk1"/>
                </a:solidFill>
              </a:rPr>
              <a:t>), balanced by the percentage of solids (</a:t>
            </a:r>
            <a:r>
              <a:rPr lang="en" sz="1100" dirty="0">
                <a:solidFill>
                  <a:srgbClr val="188038"/>
                </a:solidFill>
              </a:rPr>
              <a:t>P</a:t>
            </a:r>
            <a:r>
              <a:rPr lang="en" sz="1100" dirty="0">
                <a:solidFill>
                  <a:schemeClr val="dk1"/>
                </a:solidFill>
              </a:rPr>
              <a:t>) and solvent evaporation rates.</a:t>
            </a:r>
            <a:endParaRPr sz="1100" dirty="0">
              <a:solidFill>
                <a:schemeClr val="dk1"/>
              </a:solidFill>
            </a:endParaRPr>
          </a:p>
          <a:p>
            <a:pPr marL="0" lvl="0" indent="0" algn="l" rtl="0">
              <a:spcBef>
                <a:spcPts val="1200"/>
              </a:spcBef>
              <a:spcAft>
                <a:spcPts val="1200"/>
              </a:spcAft>
              <a:buNone/>
            </a:pPr>
            <a:endParaRPr dirty="0"/>
          </a:p>
        </p:txBody>
      </p:sp>
      <p:pic>
        <p:nvPicPr>
          <p:cNvPr id="120" name="Google Shape;120;p23" title="An-image-of-spin-coating-photoresist.png.jpg"/>
          <p:cNvPicPr preferRelativeResize="0"/>
          <p:nvPr/>
        </p:nvPicPr>
        <p:blipFill>
          <a:blip r:embed="rId3">
            <a:alphaModFix/>
          </a:blip>
          <a:stretch>
            <a:fillRect/>
          </a:stretch>
        </p:blipFill>
        <p:spPr>
          <a:xfrm>
            <a:off x="5498400" y="1215125"/>
            <a:ext cx="3538200" cy="227781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4"/>
          <p:cNvSpPr txBox="1">
            <a:spLocks noGrp="1"/>
          </p:cNvSpPr>
          <p:nvPr>
            <p:ph type="title"/>
          </p:nvPr>
        </p:nvSpPr>
        <p:spPr>
          <a:xfrm>
            <a:off x="139250" y="265075"/>
            <a:ext cx="8520600" cy="5727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Clr>
                <a:schemeClr val="dk1"/>
              </a:buClr>
              <a:buSzPts val="1100"/>
              <a:buFont typeface="Arial"/>
              <a:buNone/>
            </a:pPr>
            <a:r>
              <a:rPr lang="en" sz="1300" b="1"/>
              <a:t>Chemical Kinetics: The Dill A-B-C Model</a:t>
            </a:r>
            <a:endParaRPr/>
          </a:p>
        </p:txBody>
      </p:sp>
      <p:sp>
        <p:nvSpPr>
          <p:cNvPr id="126" name="Google Shape;126;p24"/>
          <p:cNvSpPr txBox="1">
            <a:spLocks noGrp="1"/>
          </p:cNvSpPr>
          <p:nvPr>
            <p:ph type="body" idx="1"/>
          </p:nvPr>
        </p:nvSpPr>
        <p:spPr>
          <a:xfrm>
            <a:off x="217800" y="837775"/>
            <a:ext cx="8708400" cy="250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The exposure process models the destruction of the Photoactive Compound (PAC).</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a:solidFill>
                  <a:srgbClr val="188038"/>
                </a:solidFill>
              </a:rPr>
              <a:t>∂M/∂t = -C * M * I</a:t>
            </a:r>
            <a:endParaRPr sz="1100">
              <a:solidFill>
                <a:srgbClr val="188038"/>
              </a:solidFill>
            </a:endParaRPr>
          </a:p>
          <a:p>
            <a:pPr marL="457200" lvl="0" indent="-298450" algn="l" rtl="0">
              <a:spcBef>
                <a:spcPts val="1200"/>
              </a:spcBef>
              <a:spcAft>
                <a:spcPts val="0"/>
              </a:spcAft>
              <a:buClr>
                <a:schemeClr val="dk1"/>
              </a:buClr>
              <a:buSzPts val="1100"/>
              <a:buChar char="●"/>
            </a:pPr>
            <a:r>
              <a:rPr lang="en" sz="1100" b="1">
                <a:solidFill>
                  <a:schemeClr val="dk1"/>
                </a:solidFill>
              </a:rPr>
              <a:t>A/B:</a:t>
            </a:r>
            <a:r>
              <a:rPr lang="en" sz="1100">
                <a:solidFill>
                  <a:schemeClr val="dk1"/>
                </a:solidFill>
              </a:rPr>
              <a:t> Bleachable and non-bleachable absorption coefficients.</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C:</a:t>
            </a:r>
            <a:r>
              <a:rPr lang="en" sz="1100">
                <a:solidFill>
                  <a:schemeClr val="dk1"/>
                </a:solidFill>
              </a:rPr>
              <a:t> Exposure rate constant.</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M:</a:t>
            </a:r>
            <a:r>
              <a:rPr lang="en" sz="1100">
                <a:solidFill>
                  <a:schemeClr val="dk1"/>
                </a:solidFill>
              </a:rPr>
              <a:t> PAC concentration.</a:t>
            </a:r>
            <a:br>
              <a:rPr lang="en" sz="1100">
                <a:solidFill>
                  <a:schemeClr val="dk1"/>
                </a:solidFill>
              </a:rPr>
            </a:br>
            <a:r>
              <a:rPr lang="en" sz="1100" b="1">
                <a:solidFill>
                  <a:schemeClr val="dk1"/>
                </a:solidFill>
              </a:rPr>
              <a:t>Chemical Amplification:</a:t>
            </a:r>
            <a:r>
              <a:rPr lang="en" sz="1100">
                <a:solidFill>
                  <a:schemeClr val="dk1"/>
                </a:solidFill>
              </a:rPr>
              <a:t> Modern resists use Photoacid Generators (PAGs). During a Post-Exposure Bake (PEB), a single acid molecule acts as a catalyst to dissolve thousands of polymer bonds, drastically increasing light sensitivity.</a:t>
            </a:r>
            <a:endParaRPr sz="1100">
              <a:solidFill>
                <a:schemeClr val="dk1"/>
              </a:solidFill>
            </a:endParaRPr>
          </a:p>
          <a:p>
            <a:pPr marL="0" lvl="0" indent="0" algn="l" rtl="0">
              <a:spcBef>
                <a:spcPts val="1200"/>
              </a:spcBef>
              <a:spcAft>
                <a:spcPts val="1200"/>
              </a:spcAft>
              <a:buNone/>
            </a:pPr>
            <a:endParaRPr/>
          </a:p>
        </p:txBody>
      </p:sp>
      <p:sp>
        <p:nvSpPr>
          <p:cNvPr id="128" name="Google Shape;128;p24"/>
          <p:cNvSpPr txBox="1">
            <a:spLocks noGrp="1"/>
          </p:cNvSpPr>
          <p:nvPr>
            <p:ph type="title" idx="4294967295"/>
          </p:nvPr>
        </p:nvSpPr>
        <p:spPr>
          <a:xfrm>
            <a:off x="255025" y="3052631"/>
            <a:ext cx="8521700" cy="573087"/>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None/>
            </a:pPr>
            <a:r>
              <a:rPr lang="en" sz="1300" b="1"/>
              <a:t>The Limits of Liquid Resists at the Nanoscale</a:t>
            </a:r>
            <a:endParaRPr/>
          </a:p>
        </p:txBody>
      </p:sp>
      <p:sp>
        <p:nvSpPr>
          <p:cNvPr id="127" name="Google Shape;127;p24"/>
          <p:cNvSpPr txBox="1"/>
          <p:nvPr/>
        </p:nvSpPr>
        <p:spPr>
          <a:xfrm>
            <a:off x="255025" y="3662375"/>
            <a:ext cx="6860400" cy="128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100" b="1" dirty="0">
                <a:solidFill>
                  <a:schemeClr val="dk1"/>
                </a:solidFill>
              </a:rPr>
              <a:t>Capillary Collapse:</a:t>
            </a:r>
            <a:r>
              <a:rPr lang="en" sz="1100" dirty="0">
                <a:solidFill>
                  <a:schemeClr val="dk1"/>
                </a:solidFill>
              </a:rPr>
              <a:t> As we scale past the 3nm node, the aspect ratios of printed lines become extreme. Liquid developers exert capillary forces that can physically pull adjacent nanostructures together, causing pattern collapse.</a:t>
            </a:r>
            <a:endParaRPr sz="1100" dirty="0">
              <a:solidFill>
                <a:schemeClr val="dk1"/>
              </a:solidFill>
            </a:endParaRPr>
          </a:p>
          <a:p>
            <a:pPr marL="0" lvl="0" indent="0" algn="l" rtl="0">
              <a:lnSpc>
                <a:spcPct val="115000"/>
              </a:lnSpc>
              <a:spcBef>
                <a:spcPts val="1200"/>
              </a:spcBef>
              <a:spcAft>
                <a:spcPts val="1200"/>
              </a:spcAft>
              <a:buNone/>
            </a:pPr>
            <a:r>
              <a:rPr lang="en" sz="1100" b="1" dirty="0">
                <a:solidFill>
                  <a:schemeClr val="dk1"/>
                </a:solidFill>
              </a:rPr>
              <a:t>EUV Transparency:</a:t>
            </a:r>
            <a:r>
              <a:rPr lang="en" sz="1100" dirty="0">
                <a:solidFill>
                  <a:schemeClr val="dk1"/>
                </a:solidFill>
              </a:rPr>
              <a:t> Traditional organic polymers (Carbon/Hydrogen/Oxygen) absorb very little EUV light, meaning most expensive 13.5nm photons pass through without triggering a reaction.</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5"/>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Clr>
                <a:schemeClr val="dk1"/>
              </a:buClr>
              <a:buSzPts val="1100"/>
              <a:buFont typeface="Arial"/>
              <a:buNone/>
            </a:pPr>
            <a:r>
              <a:rPr lang="en" sz="1300" b="1"/>
              <a:t>The Future: Chemical Vapor Deposition (CVD) Dry Resists</a:t>
            </a:r>
            <a:endParaRPr/>
          </a:p>
        </p:txBody>
      </p:sp>
      <p:sp>
        <p:nvSpPr>
          <p:cNvPr id="134" name="Google Shape;134;p25"/>
          <p:cNvSpPr txBox="1">
            <a:spLocks noGrp="1"/>
          </p:cNvSpPr>
          <p:nvPr>
            <p:ph type="body" idx="1"/>
          </p:nvPr>
        </p:nvSpPr>
        <p:spPr>
          <a:xfrm>
            <a:off x="311700" y="1152475"/>
            <a:ext cx="8895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"Dry Resist" is deposited in a vacuum chamber as a gas, growing a perfectly conformal film atom by atom.</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Metal-Oxide (MOx) Resists:</a:t>
            </a:r>
            <a:r>
              <a:rPr lang="en" sz="1100">
                <a:solidFill>
                  <a:schemeClr val="dk1"/>
                </a:solidFill>
              </a:rPr>
              <a:t> CVD utilizes inorganic compounds (like Tin or Zirconium). Metals have a vastly higher EUV absorption cross-section, requiring lower light doses.</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Dry Development:</a:t>
            </a:r>
            <a:r>
              <a:rPr lang="en" sz="1100">
                <a:solidFill>
                  <a:schemeClr val="dk1"/>
                </a:solidFill>
              </a:rPr>
              <a:t> They are developed using plasma etching, completely eliminating liquid capillary forces and pattern collapse.</a:t>
            </a:r>
            <a:endParaRPr sz="1100">
              <a:solidFill>
                <a:schemeClr val="dk1"/>
              </a:solidFill>
            </a:endParaRPr>
          </a:p>
          <a:p>
            <a:pPr marL="0" lvl="0" indent="0" algn="l" rtl="0">
              <a:spcBef>
                <a:spcPts val="1200"/>
              </a:spcBef>
              <a:spcAft>
                <a:spcPts val="1200"/>
              </a:spcAft>
              <a:buNone/>
            </a:pPr>
            <a:endParaRPr/>
          </a:p>
        </p:txBody>
      </p:sp>
      <p:pic>
        <p:nvPicPr>
          <p:cNvPr id="135" name="Google Shape;135;p25" title="Screenshot 2026-05-12 at 17.06.04.png"/>
          <p:cNvPicPr preferRelativeResize="0"/>
          <p:nvPr/>
        </p:nvPicPr>
        <p:blipFill>
          <a:blip r:embed="rId3">
            <a:alphaModFix/>
          </a:blip>
          <a:stretch>
            <a:fillRect/>
          </a:stretch>
        </p:blipFill>
        <p:spPr>
          <a:xfrm>
            <a:off x="1349700" y="2604400"/>
            <a:ext cx="6380652" cy="2274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6"/>
          <p:cNvSpPr txBox="1">
            <a:spLocks noGrp="1"/>
          </p:cNvSpPr>
          <p:nvPr>
            <p:ph type="title"/>
          </p:nvPr>
        </p:nvSpPr>
        <p:spPr>
          <a:xfrm>
            <a:off x="356200" y="18531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t>Section 03: The VLSI Fabrication Pipeline</a:t>
            </a:r>
            <a:endParaRPr b="1"/>
          </a:p>
          <a:p>
            <a:pPr marL="0" lvl="0" indent="0" algn="l" rtl="0">
              <a:spcBef>
                <a:spcPts val="400"/>
              </a:spcBef>
              <a:spcAft>
                <a:spcPts val="0"/>
              </a:spcAft>
              <a:buSzPts val="990"/>
              <a:buNone/>
            </a:pPr>
            <a:endParaRPr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7"/>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ct val="84615"/>
              <a:buFont typeface="Arial"/>
              <a:buNone/>
            </a:pPr>
            <a:r>
              <a:rPr lang="en" sz="1300" b="1"/>
              <a:t> The VLSI Design Flow</a:t>
            </a:r>
            <a:endParaRPr sz="1300" b="1"/>
          </a:p>
          <a:p>
            <a:pPr marL="0" lvl="0" indent="0" algn="l" rtl="0">
              <a:spcBef>
                <a:spcPts val="400"/>
              </a:spcBef>
              <a:spcAft>
                <a:spcPts val="0"/>
              </a:spcAft>
              <a:buNone/>
            </a:pPr>
            <a:endParaRPr/>
          </a:p>
        </p:txBody>
      </p:sp>
      <p:sp>
        <p:nvSpPr>
          <p:cNvPr id="146" name="Google Shape;146;p27"/>
          <p:cNvSpPr txBox="1">
            <a:spLocks noGrp="1"/>
          </p:cNvSpPr>
          <p:nvPr>
            <p:ph type="body" idx="1"/>
          </p:nvPr>
        </p:nvSpPr>
        <p:spPr>
          <a:xfrm>
            <a:off x="311700" y="1152475"/>
            <a:ext cx="8453400" cy="1684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Modern chips (billions of transistors) require highly automated Electronic Design Automation (EDA) pipelines.</a:t>
            </a:r>
            <a:endParaRPr sz="1100">
              <a:solidFill>
                <a:schemeClr val="dk1"/>
              </a:solidFill>
            </a:endParaRPr>
          </a:p>
          <a:p>
            <a:pPr marL="457200" lvl="0" indent="-298450" algn="l" rtl="0">
              <a:spcBef>
                <a:spcPts val="1200"/>
              </a:spcBef>
              <a:spcAft>
                <a:spcPts val="0"/>
              </a:spcAft>
              <a:buClr>
                <a:schemeClr val="dk1"/>
              </a:buClr>
              <a:buSzPts val="1100"/>
              <a:buChar char="●"/>
            </a:pPr>
            <a:r>
              <a:rPr lang="en" sz="1100" b="1">
                <a:solidFill>
                  <a:schemeClr val="dk1"/>
                </a:solidFill>
              </a:rPr>
              <a:t>RTL &amp; Synthesis:</a:t>
            </a:r>
            <a:r>
              <a:rPr lang="en" sz="1100">
                <a:solidFill>
                  <a:schemeClr val="dk1"/>
                </a:solidFill>
              </a:rPr>
              <a:t> Coding hardware behavior (Verilog) and mapping it to standard logic gates.</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Place &amp; Route:</a:t>
            </a:r>
            <a:r>
              <a:rPr lang="en" sz="1100">
                <a:solidFill>
                  <a:schemeClr val="dk1"/>
                </a:solidFill>
              </a:rPr>
              <a:t> Positioning standard cells and wiring them together to minimize delay.</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Tape-Out:</a:t>
            </a:r>
            <a:r>
              <a:rPr lang="en" sz="1100">
                <a:solidFill>
                  <a:schemeClr val="dk1"/>
                </a:solidFill>
              </a:rPr>
              <a:t> Exporting the layout as a GDSII file, containing the geometric polygons used to manufacture the physical masks.</a:t>
            </a:r>
            <a:endParaRPr sz="1100">
              <a:solidFill>
                <a:schemeClr val="dk1"/>
              </a:solidFill>
            </a:endParaRPr>
          </a:p>
          <a:p>
            <a:pPr marL="0" lvl="0" indent="0" algn="l" rtl="0">
              <a:spcBef>
                <a:spcPts val="1200"/>
              </a:spcBef>
              <a:spcAft>
                <a:spcPts val="1200"/>
              </a:spcAft>
              <a:buNone/>
            </a:pPr>
            <a:endParaRPr/>
          </a:p>
        </p:txBody>
      </p:sp>
      <p:sp>
        <p:nvSpPr>
          <p:cNvPr id="147" name="Google Shape;147;p27"/>
          <p:cNvSpPr txBox="1">
            <a:spLocks noGrp="1"/>
          </p:cNvSpPr>
          <p:nvPr>
            <p:ph type="title" idx="4294967295"/>
          </p:nvPr>
        </p:nvSpPr>
        <p:spPr>
          <a:xfrm>
            <a:off x="378900" y="2478835"/>
            <a:ext cx="8520113" cy="573087"/>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None/>
            </a:pPr>
            <a:r>
              <a:rPr lang="en" sz="1300" b="1" dirty="0"/>
              <a:t>Building the Chip Hierarchy</a:t>
            </a:r>
            <a:endParaRPr dirty="0"/>
          </a:p>
        </p:txBody>
      </p:sp>
      <p:sp>
        <p:nvSpPr>
          <p:cNvPr id="148" name="Google Shape;148;p27"/>
          <p:cNvSpPr txBox="1">
            <a:spLocks noGrp="1"/>
          </p:cNvSpPr>
          <p:nvPr>
            <p:ph type="body" idx="4294967295"/>
          </p:nvPr>
        </p:nvSpPr>
        <p:spPr>
          <a:xfrm>
            <a:off x="310600" y="3258204"/>
            <a:ext cx="8521700" cy="3416300"/>
          </a:xfrm>
          <a:prstGeom prst="rect">
            <a:avLst/>
          </a:prstGeom>
        </p:spPr>
        <p:txBody>
          <a:bodyPr spcFirstLastPara="1" wrap="square" lIns="91425" tIns="91425" rIns="91425" bIns="91425" anchor="t" anchorCtr="0">
            <a:normAutofit/>
          </a:bodyPr>
          <a:lstStyle/>
          <a:p>
            <a:pPr marL="457200" lvl="0" indent="-298450" algn="l" rtl="0">
              <a:spcBef>
                <a:spcPts val="0"/>
              </a:spcBef>
              <a:spcAft>
                <a:spcPts val="0"/>
              </a:spcAft>
              <a:buClr>
                <a:schemeClr val="dk1"/>
              </a:buClr>
              <a:buSzPts val="1100"/>
              <a:buChar char="●"/>
            </a:pPr>
            <a:r>
              <a:rPr lang="en" sz="1100" b="1" dirty="0">
                <a:solidFill>
                  <a:schemeClr val="dk1"/>
                </a:solidFill>
              </a:rPr>
              <a:t>Front-End-of-Line (FEOL):</a:t>
            </a:r>
            <a:r>
              <a:rPr lang="en" sz="1100" dirty="0">
                <a:solidFill>
                  <a:schemeClr val="dk1"/>
                </a:solidFill>
              </a:rPr>
              <a:t> The extreme-precision bottom layers where active devices (silicon fins, high-k gates) are patterned into the substrate.</a:t>
            </a:r>
            <a:endParaRPr sz="1100" dirty="0">
              <a:solidFill>
                <a:schemeClr val="dk1"/>
              </a:solidFill>
            </a:endParaRPr>
          </a:p>
          <a:p>
            <a:pPr marL="457200" lvl="0" indent="-298450" algn="l" rtl="0">
              <a:spcBef>
                <a:spcPts val="0"/>
              </a:spcBef>
              <a:spcAft>
                <a:spcPts val="0"/>
              </a:spcAft>
              <a:buClr>
                <a:schemeClr val="dk1"/>
              </a:buClr>
              <a:buSzPts val="1100"/>
              <a:buChar char="●"/>
            </a:pPr>
            <a:r>
              <a:rPr lang="en" sz="1100" b="1" dirty="0">
                <a:solidFill>
                  <a:schemeClr val="dk1"/>
                </a:solidFill>
              </a:rPr>
              <a:t>Middle-End-of-Line (MEOL):</a:t>
            </a:r>
            <a:r>
              <a:rPr lang="en" sz="1100" dirty="0">
                <a:solidFill>
                  <a:schemeClr val="dk1"/>
                </a:solidFill>
              </a:rPr>
              <a:t> The intermediate contacts (tungsten/cobalt) connecting transistor terminals to the wiring grid.</a:t>
            </a:r>
            <a:endParaRPr sz="1100" dirty="0">
              <a:solidFill>
                <a:schemeClr val="dk1"/>
              </a:solidFill>
            </a:endParaRPr>
          </a:p>
          <a:p>
            <a:pPr marL="457200" lvl="0" indent="-298450" algn="l" rtl="0">
              <a:spcBef>
                <a:spcPts val="0"/>
              </a:spcBef>
              <a:spcAft>
                <a:spcPts val="0"/>
              </a:spcAft>
              <a:buClr>
                <a:schemeClr val="dk1"/>
              </a:buClr>
              <a:buSzPts val="1100"/>
              <a:buChar char="●"/>
            </a:pPr>
            <a:r>
              <a:rPr lang="en" sz="1100" b="1" dirty="0">
                <a:solidFill>
                  <a:schemeClr val="dk1"/>
                </a:solidFill>
              </a:rPr>
              <a:t>Back-End-of-Line (BEOL):</a:t>
            </a:r>
            <a:r>
              <a:rPr lang="en" sz="1100" dirty="0">
                <a:solidFill>
                  <a:schemeClr val="dk1"/>
                </a:solidFill>
              </a:rPr>
              <a:t> The upper wiring layers; complex 3D networks of copper/ruthenium wires and vertical vias separated by low-k dielectrics.</a:t>
            </a:r>
            <a:endParaRPr sz="1100" dirty="0">
              <a:solidFill>
                <a:schemeClr val="dk1"/>
              </a:solidFill>
            </a:endParaRPr>
          </a:p>
          <a:p>
            <a:pPr marL="0" lvl="0" indent="0" algn="l" rtl="0">
              <a:spcBef>
                <a:spcPts val="1200"/>
              </a:spcBef>
              <a:spcAft>
                <a:spcPts val="1200"/>
              </a:spcAft>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8"/>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t>Photomask Fabrication: Building the Master Template</a:t>
            </a:r>
            <a:endParaRPr b="1"/>
          </a:p>
        </p:txBody>
      </p:sp>
      <p:sp>
        <p:nvSpPr>
          <p:cNvPr id="154" name="Google Shape;154;p28"/>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Before a chip can be printed, its digital layout must be translated into a physical master template called a photomask (or reticle).</a:t>
            </a:r>
            <a:endParaRPr sz="1100">
              <a:solidFill>
                <a:schemeClr val="dk1"/>
              </a:solidFill>
            </a:endParaRPr>
          </a:p>
          <a:p>
            <a:pPr marL="0" lvl="0" indent="0" algn="l" rtl="0">
              <a:spcBef>
                <a:spcPts val="0"/>
              </a:spcBef>
              <a:spcAft>
                <a:spcPts val="0"/>
              </a:spcAft>
              <a:buClr>
                <a:schemeClr val="dk1"/>
              </a:buClr>
              <a:buSzPts val="1100"/>
              <a:buFont typeface="Arial"/>
              <a:buNone/>
            </a:pPr>
            <a:r>
              <a:rPr lang="en" sz="1100" b="1">
                <a:solidFill>
                  <a:schemeClr val="dk1"/>
                </a:solidFill>
              </a:rPr>
              <a:t>Materials:</a:t>
            </a:r>
            <a:r>
              <a:rPr lang="en" sz="1100">
                <a:solidFill>
                  <a:schemeClr val="dk1"/>
                </a:solidFill>
              </a:rPr>
              <a:t> * </a:t>
            </a:r>
            <a:r>
              <a:rPr lang="en" sz="1100" i="1">
                <a:solidFill>
                  <a:schemeClr val="dk1"/>
                </a:solidFill>
              </a:rPr>
              <a:t>Deep UV (DUV):</a:t>
            </a:r>
            <a:r>
              <a:rPr lang="en" sz="1100">
                <a:solidFill>
                  <a:schemeClr val="dk1"/>
                </a:solidFill>
              </a:rPr>
              <a:t> Made of ultra-pure fused silica (quartz) glass, which is transparent to 193nm light, coated with an opaque patterned layer of Chromium.</a:t>
            </a:r>
            <a:endParaRPr sz="1100">
              <a:solidFill>
                <a:schemeClr val="dk1"/>
              </a:solidFill>
            </a:endParaRPr>
          </a:p>
          <a:p>
            <a:pPr marL="457200" lvl="0" indent="-298450" algn="l" rtl="0">
              <a:spcBef>
                <a:spcPts val="1200"/>
              </a:spcBef>
              <a:spcAft>
                <a:spcPts val="0"/>
              </a:spcAft>
              <a:buClr>
                <a:schemeClr val="dk1"/>
              </a:buClr>
              <a:buSzPts val="1100"/>
              <a:buChar char="●"/>
            </a:pPr>
            <a:r>
              <a:rPr lang="en" sz="1100" i="1">
                <a:solidFill>
                  <a:schemeClr val="dk1"/>
                </a:solidFill>
              </a:rPr>
              <a:t>Extreme UV (EUV):</a:t>
            </a:r>
            <a:r>
              <a:rPr lang="en" sz="1100">
                <a:solidFill>
                  <a:schemeClr val="dk1"/>
                </a:solidFill>
              </a:rPr>
              <a:t> Because EUV is absorbed by glass, EUV masks are reflective. They use the same Mo/Si Bragg reflector layers as the scanner mirrors, topped with a patterned Tantalum-based absorber.</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Electron Beam Lithography (EBL):</a:t>
            </a:r>
            <a:r>
              <a:rPr lang="en" sz="1100">
                <a:solidFill>
                  <a:schemeClr val="dk1"/>
                </a:solidFill>
              </a:rPr>
              <a:t> Because the mask must be physically perfect, it cannot be written with light. It is written using an electron beam in a high-vacuum chamber. This process is incredibly slow and expensive, sometimes taking days to write a single complex mask.</a:t>
            </a:r>
            <a:endParaRPr sz="1100">
              <a:solidFill>
                <a:schemeClr val="dk1"/>
              </a:solidFill>
            </a:endParaRPr>
          </a:p>
          <a:p>
            <a:pPr marL="0" lvl="0" indent="0" algn="l" rtl="0">
              <a:spcBef>
                <a:spcPts val="0"/>
              </a:spcBef>
              <a:spcAft>
                <a:spcPts val="1200"/>
              </a:spcAft>
              <a:buNone/>
            </a:pPr>
            <a:endParaRPr/>
          </a:p>
        </p:txBody>
      </p:sp>
      <p:pic>
        <p:nvPicPr>
          <p:cNvPr id="155" name="Google Shape;155;p28" title="Mask_making.jpg"/>
          <p:cNvPicPr preferRelativeResize="0"/>
          <p:nvPr/>
        </p:nvPicPr>
        <p:blipFill>
          <a:blip r:embed="rId3">
            <a:alphaModFix/>
          </a:blip>
          <a:stretch>
            <a:fillRect/>
          </a:stretch>
        </p:blipFill>
        <p:spPr>
          <a:xfrm>
            <a:off x="1945342" y="3021106"/>
            <a:ext cx="5489213" cy="178704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9"/>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t>Computational Lithography: Defeating Diffraction</a:t>
            </a:r>
            <a:endParaRPr b="1"/>
          </a:p>
        </p:txBody>
      </p:sp>
      <p:sp>
        <p:nvSpPr>
          <p:cNvPr id="161" name="Google Shape;161;p29"/>
          <p:cNvSpPr txBox="1">
            <a:spLocks noGrp="1"/>
          </p:cNvSpPr>
          <p:nvPr>
            <p:ph type="body" idx="1"/>
          </p:nvPr>
        </p:nvSpPr>
        <p:spPr>
          <a:xfrm>
            <a:off x="311700" y="1282075"/>
            <a:ext cx="4466488"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b="1" dirty="0">
                <a:solidFill>
                  <a:schemeClr val="dk1"/>
                </a:solidFill>
              </a:rPr>
              <a:t>The Concept:</a:t>
            </a:r>
            <a:r>
              <a:rPr lang="en" sz="1100" dirty="0">
                <a:solidFill>
                  <a:schemeClr val="dk1"/>
                </a:solidFill>
              </a:rPr>
              <a:t> Because the features on the mask are smaller </a:t>
            </a:r>
            <a:endParaRPr sz="1100" dirty="0">
              <a:solidFill>
                <a:schemeClr val="dk1"/>
              </a:solidFill>
            </a:endParaRPr>
          </a:p>
          <a:p>
            <a:pPr marL="0" lvl="0" indent="0" algn="l" rtl="0">
              <a:spcBef>
                <a:spcPts val="0"/>
              </a:spcBef>
              <a:spcAft>
                <a:spcPts val="0"/>
              </a:spcAft>
              <a:buNone/>
            </a:pPr>
            <a:r>
              <a:rPr lang="en" sz="1100" dirty="0">
                <a:solidFill>
                  <a:schemeClr val="dk1"/>
                </a:solidFill>
              </a:rPr>
              <a:t>than the wavelength of light, severe diffraction occurs.</a:t>
            </a:r>
            <a:endParaRPr sz="1100" dirty="0">
              <a:solidFill>
                <a:schemeClr val="dk1"/>
              </a:solidFill>
            </a:endParaRPr>
          </a:p>
          <a:p>
            <a:pPr marL="0" lvl="0" indent="0" algn="l" rtl="0">
              <a:spcBef>
                <a:spcPts val="0"/>
              </a:spcBef>
              <a:spcAft>
                <a:spcPts val="0"/>
              </a:spcAft>
              <a:buNone/>
            </a:pPr>
            <a:r>
              <a:rPr lang="en" sz="1100" dirty="0">
                <a:solidFill>
                  <a:schemeClr val="dk1"/>
                </a:solidFill>
              </a:rPr>
              <a:t>A perfectly square corner on the mask will print </a:t>
            </a:r>
            <a:endParaRPr sz="1100" dirty="0">
              <a:solidFill>
                <a:schemeClr val="dk1"/>
              </a:solidFill>
            </a:endParaRPr>
          </a:p>
          <a:p>
            <a:pPr marL="0" lvl="0" indent="0" algn="l" rtl="0">
              <a:spcBef>
                <a:spcPts val="0"/>
              </a:spcBef>
              <a:spcAft>
                <a:spcPts val="0"/>
              </a:spcAft>
              <a:buNone/>
            </a:pPr>
            <a:r>
              <a:rPr lang="en" sz="1100" dirty="0">
                <a:solidFill>
                  <a:schemeClr val="dk1"/>
                </a:solidFill>
              </a:rPr>
              <a:t>as a blurry circle on the wafer. </a:t>
            </a:r>
            <a:endParaRPr sz="1100" dirty="0">
              <a:solidFill>
                <a:schemeClr val="dk1"/>
              </a:solidFill>
            </a:endParaRPr>
          </a:p>
          <a:p>
            <a:pPr marL="0" lvl="0" indent="0" algn="l" rtl="0">
              <a:spcBef>
                <a:spcPts val="0"/>
              </a:spcBef>
              <a:spcAft>
                <a:spcPts val="0"/>
              </a:spcAft>
              <a:buClr>
                <a:schemeClr val="dk1"/>
              </a:buClr>
              <a:buSzPts val="1100"/>
              <a:buFont typeface="Arial"/>
              <a:buNone/>
            </a:pPr>
            <a:r>
              <a:rPr lang="en" sz="1100" dirty="0">
                <a:solidFill>
                  <a:schemeClr val="dk1"/>
                </a:solidFill>
              </a:rPr>
              <a:t>Lines will suffer from "line-end shortening."</a:t>
            </a:r>
            <a:endParaRPr sz="1100" dirty="0">
              <a:solidFill>
                <a:schemeClr val="dk1"/>
              </a:solidFill>
            </a:endParaRPr>
          </a:p>
          <a:p>
            <a:pPr marL="0" lvl="0" indent="0" algn="l" rtl="0">
              <a:spcBef>
                <a:spcPts val="0"/>
              </a:spcBef>
              <a:spcAft>
                <a:spcPts val="0"/>
              </a:spcAft>
              <a:buNone/>
            </a:pPr>
            <a:r>
              <a:rPr lang="en" sz="1100" b="1" dirty="0">
                <a:solidFill>
                  <a:schemeClr val="dk1"/>
                </a:solidFill>
              </a:rPr>
              <a:t>Optical Proximity Correction (OPC):</a:t>
            </a:r>
            <a:r>
              <a:rPr lang="en" sz="1100" dirty="0">
                <a:solidFill>
                  <a:schemeClr val="dk1"/>
                </a:solidFill>
              </a:rPr>
              <a:t> Engineers intentionally distort </a:t>
            </a:r>
            <a:endParaRPr sz="1100" dirty="0">
              <a:solidFill>
                <a:schemeClr val="dk1"/>
              </a:solidFill>
            </a:endParaRPr>
          </a:p>
          <a:p>
            <a:pPr marL="0" lvl="0" indent="0" algn="l" rtl="0">
              <a:spcBef>
                <a:spcPts val="0"/>
              </a:spcBef>
              <a:spcAft>
                <a:spcPts val="0"/>
              </a:spcAft>
              <a:buNone/>
            </a:pPr>
            <a:r>
              <a:rPr lang="en" sz="1100" dirty="0">
                <a:solidFill>
                  <a:schemeClr val="dk1"/>
                </a:solidFill>
              </a:rPr>
              <a:t>the mask shapes to pre-compensate for optical blurring. </a:t>
            </a:r>
            <a:endParaRPr sz="1100" dirty="0">
              <a:solidFill>
                <a:schemeClr val="dk1"/>
              </a:solidFill>
            </a:endParaRPr>
          </a:p>
          <a:p>
            <a:pPr marL="0" lvl="0" indent="0" algn="l" rtl="0">
              <a:spcBef>
                <a:spcPts val="0"/>
              </a:spcBef>
              <a:spcAft>
                <a:spcPts val="0"/>
              </a:spcAft>
              <a:buNone/>
            </a:pPr>
            <a:r>
              <a:rPr lang="en" sz="1100" dirty="0">
                <a:solidFill>
                  <a:schemeClr val="dk1"/>
                </a:solidFill>
              </a:rPr>
              <a:t>This involves adding geometric adjustments like </a:t>
            </a:r>
            <a:endParaRPr sz="1100" dirty="0">
              <a:solidFill>
                <a:schemeClr val="dk1"/>
              </a:solidFill>
            </a:endParaRPr>
          </a:p>
          <a:p>
            <a:pPr marL="0" lvl="0" indent="0" algn="l" rtl="0">
              <a:spcBef>
                <a:spcPts val="0"/>
              </a:spcBef>
              <a:spcAft>
                <a:spcPts val="0"/>
              </a:spcAft>
              <a:buNone/>
            </a:pPr>
            <a:r>
              <a:rPr lang="en" sz="1100" dirty="0">
                <a:solidFill>
                  <a:schemeClr val="dk1"/>
                </a:solidFill>
              </a:rPr>
              <a:t>"hammerheads" to line ends and "mouse bites"</a:t>
            </a:r>
            <a:endParaRPr sz="1100" dirty="0">
              <a:solidFill>
                <a:schemeClr val="dk1"/>
              </a:solidFill>
            </a:endParaRPr>
          </a:p>
          <a:p>
            <a:pPr marL="0" lvl="0" indent="0" algn="l" rtl="0">
              <a:spcBef>
                <a:spcPts val="0"/>
              </a:spcBef>
              <a:spcAft>
                <a:spcPts val="0"/>
              </a:spcAft>
              <a:buClr>
                <a:schemeClr val="dk1"/>
              </a:buClr>
              <a:buSzPts val="1100"/>
              <a:buFont typeface="Arial"/>
              <a:buNone/>
            </a:pPr>
            <a:r>
              <a:rPr lang="en" sz="1100" dirty="0">
                <a:solidFill>
                  <a:schemeClr val="dk1"/>
                </a:solidFill>
              </a:rPr>
              <a:t> to inner corners so that they print correctly on the silicon.</a:t>
            </a:r>
            <a:endParaRPr sz="1100" dirty="0">
              <a:solidFill>
                <a:schemeClr val="dk1"/>
              </a:solidFill>
            </a:endParaRPr>
          </a:p>
          <a:p>
            <a:pPr marL="0" lvl="0" indent="0" algn="l" rtl="0">
              <a:spcBef>
                <a:spcPts val="0"/>
              </a:spcBef>
              <a:spcAft>
                <a:spcPts val="0"/>
              </a:spcAft>
              <a:buNone/>
            </a:pPr>
            <a:r>
              <a:rPr lang="en" sz="1100" b="1" dirty="0">
                <a:solidFill>
                  <a:schemeClr val="dk1"/>
                </a:solidFill>
              </a:rPr>
              <a:t>Sub-Resolution Assist Features (SRAF):</a:t>
            </a:r>
            <a:r>
              <a:rPr lang="en" sz="1100" dirty="0">
                <a:solidFill>
                  <a:schemeClr val="dk1"/>
                </a:solidFill>
              </a:rPr>
              <a:t> Placing tiny,</a:t>
            </a:r>
            <a:endParaRPr sz="1100" dirty="0">
              <a:solidFill>
                <a:schemeClr val="dk1"/>
              </a:solidFill>
            </a:endParaRPr>
          </a:p>
          <a:p>
            <a:pPr marL="0" lvl="0" indent="0" algn="l" rtl="0">
              <a:spcBef>
                <a:spcPts val="0"/>
              </a:spcBef>
              <a:spcAft>
                <a:spcPts val="0"/>
              </a:spcAft>
              <a:buNone/>
            </a:pPr>
            <a:r>
              <a:rPr lang="en" sz="1100" dirty="0">
                <a:solidFill>
                  <a:schemeClr val="dk1"/>
                </a:solidFill>
              </a:rPr>
              <a:t> non-printing shapes (scatter bars) next to the main features. </a:t>
            </a:r>
            <a:endParaRPr sz="1100" dirty="0">
              <a:solidFill>
                <a:schemeClr val="dk1"/>
              </a:solidFill>
            </a:endParaRPr>
          </a:p>
          <a:p>
            <a:pPr marL="0" lvl="0" indent="0" algn="l" rtl="0">
              <a:spcBef>
                <a:spcPts val="0"/>
              </a:spcBef>
              <a:spcAft>
                <a:spcPts val="0"/>
              </a:spcAft>
              <a:buClr>
                <a:schemeClr val="dk1"/>
              </a:buClr>
              <a:buSzPts val="1100"/>
              <a:buFont typeface="Arial"/>
              <a:buNone/>
            </a:pPr>
            <a:r>
              <a:rPr lang="en" sz="1100" dirty="0">
                <a:solidFill>
                  <a:schemeClr val="dk1"/>
                </a:solidFill>
              </a:rPr>
              <a:t>They are too small to resolve on the wafer, but they </a:t>
            </a:r>
          </a:p>
          <a:p>
            <a:pPr marL="0" lvl="0" indent="0" algn="l" rtl="0">
              <a:spcBef>
                <a:spcPts val="0"/>
              </a:spcBef>
              <a:spcAft>
                <a:spcPts val="0"/>
              </a:spcAft>
              <a:buClr>
                <a:schemeClr val="dk1"/>
              </a:buClr>
              <a:buSzPts val="1100"/>
              <a:buFont typeface="Arial"/>
              <a:buNone/>
            </a:pPr>
            <a:r>
              <a:rPr lang="en" sz="1100" dirty="0">
                <a:solidFill>
                  <a:schemeClr val="dk1"/>
                </a:solidFill>
              </a:rPr>
              <a:t>manipulate the light via constructive interference to sharpen the main feature's aerial image.</a:t>
            </a:r>
            <a:endParaRPr sz="1100" dirty="0">
              <a:solidFill>
                <a:schemeClr val="dk1"/>
              </a:solidFill>
            </a:endParaRPr>
          </a:p>
          <a:p>
            <a:pPr marL="0" lvl="0" indent="0" algn="l" rtl="0">
              <a:spcBef>
                <a:spcPts val="0"/>
              </a:spcBef>
              <a:spcAft>
                <a:spcPts val="1200"/>
              </a:spcAft>
              <a:buNone/>
            </a:pPr>
            <a:endParaRPr dirty="0"/>
          </a:p>
        </p:txBody>
      </p:sp>
      <p:pic>
        <p:nvPicPr>
          <p:cNvPr id="162" name="Google Shape;162;p29" title="comp_lith.png"/>
          <p:cNvPicPr preferRelativeResize="0"/>
          <p:nvPr/>
        </p:nvPicPr>
        <p:blipFill>
          <a:blip r:embed="rId3">
            <a:alphaModFix/>
          </a:blip>
          <a:stretch>
            <a:fillRect/>
          </a:stretch>
        </p:blipFill>
        <p:spPr>
          <a:xfrm>
            <a:off x="4778188" y="1282075"/>
            <a:ext cx="4091949" cy="24220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ct val="84615"/>
              <a:buFont typeface="Arial"/>
              <a:buNone/>
            </a:pPr>
            <a:r>
              <a:rPr lang="en" sz="1300" b="1"/>
              <a:t>The Multi-Layer Fabrication Loop</a:t>
            </a:r>
            <a:endParaRPr sz="1300" b="1"/>
          </a:p>
          <a:p>
            <a:pPr marL="0" lvl="0" indent="0" algn="l" rtl="0">
              <a:spcBef>
                <a:spcPts val="400"/>
              </a:spcBef>
              <a:spcAft>
                <a:spcPts val="0"/>
              </a:spcAft>
              <a:buNone/>
            </a:pPr>
            <a:endParaRPr/>
          </a:p>
        </p:txBody>
      </p:sp>
      <p:sp>
        <p:nvSpPr>
          <p:cNvPr id="168" name="Google Shape;168;p30"/>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The Concept:</a:t>
            </a:r>
            <a:r>
              <a:rPr lang="en" sz="1100">
                <a:solidFill>
                  <a:schemeClr val="dk1"/>
                </a:solidFill>
              </a:rPr>
              <a:t> A modern microprocessor requires 50 to 100+ separate stacked lithography layers.</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b="1">
                <a:solidFill>
                  <a:schemeClr val="dk1"/>
                </a:solidFill>
              </a:rPr>
              <a:t>The Loop:</a:t>
            </a:r>
            <a:endParaRPr sz="1100" b="1">
              <a:solidFill>
                <a:schemeClr val="dk1"/>
              </a:solidFill>
            </a:endParaRPr>
          </a:p>
          <a:p>
            <a:pPr marL="457200" lvl="0" indent="-298450" algn="l" rtl="0">
              <a:spcBef>
                <a:spcPts val="1200"/>
              </a:spcBef>
              <a:spcAft>
                <a:spcPts val="0"/>
              </a:spcAft>
              <a:buClr>
                <a:schemeClr val="dk1"/>
              </a:buClr>
              <a:buSzPts val="1100"/>
              <a:buAutoNum type="arabicPeriod"/>
            </a:pPr>
            <a:r>
              <a:rPr lang="en" sz="1100" b="1">
                <a:solidFill>
                  <a:schemeClr val="dk1"/>
                </a:solidFill>
              </a:rPr>
              <a:t>Deposition:</a:t>
            </a:r>
            <a:r>
              <a:rPr lang="en" sz="1100">
                <a:solidFill>
                  <a:schemeClr val="dk1"/>
                </a:solidFill>
              </a:rPr>
              <a:t> Grow a blanket layer of material (oxide, metal).</a:t>
            </a: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b="1">
                <a:solidFill>
                  <a:schemeClr val="dk1"/>
                </a:solidFill>
              </a:rPr>
              <a:t>Lithography:</a:t>
            </a:r>
            <a:r>
              <a:rPr lang="en" sz="1100">
                <a:solidFill>
                  <a:schemeClr val="dk1"/>
                </a:solidFill>
              </a:rPr>
              <a:t> Coat resist, expose, and develop the stencil.</a:t>
            </a: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b="1">
                <a:solidFill>
                  <a:schemeClr val="dk1"/>
                </a:solidFill>
              </a:rPr>
              <a:t>Pattern Transfer:</a:t>
            </a:r>
            <a:r>
              <a:rPr lang="en" sz="1100">
                <a:solidFill>
                  <a:schemeClr val="dk1"/>
                </a:solidFill>
              </a:rPr>
              <a:t> Reactive Ion Etching (RIE) through the stencil.</a:t>
            </a: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b="1">
                <a:solidFill>
                  <a:schemeClr val="dk1"/>
                </a:solidFill>
              </a:rPr>
              <a:t>Strip:</a:t>
            </a:r>
            <a:r>
              <a:rPr lang="en" sz="1100">
                <a:solidFill>
                  <a:schemeClr val="dk1"/>
                </a:solidFill>
              </a:rPr>
              <a:t> Remove the leftover resist via plasma ashing.</a:t>
            </a:r>
            <a:endParaRPr sz="1100">
              <a:solidFill>
                <a:schemeClr val="dk1"/>
              </a:solidFill>
            </a:endParaRPr>
          </a:p>
          <a:p>
            <a:pPr marL="0" lvl="0" indent="0" algn="l" rtl="0">
              <a:spcBef>
                <a:spcPts val="1200"/>
              </a:spcBef>
              <a:spcAft>
                <a:spcPts val="1200"/>
              </a:spcAft>
              <a:buNone/>
            </a:pPr>
            <a:endParaRPr/>
          </a:p>
        </p:txBody>
      </p:sp>
      <p:sp>
        <p:nvSpPr>
          <p:cNvPr id="169" name="Google Shape;169;p30"/>
          <p:cNvSpPr txBox="1">
            <a:spLocks noGrp="1"/>
          </p:cNvSpPr>
          <p:nvPr>
            <p:ph type="title" idx="4294967295"/>
          </p:nvPr>
        </p:nvSpPr>
        <p:spPr>
          <a:xfrm>
            <a:off x="310600" y="3029511"/>
            <a:ext cx="8521700" cy="573088"/>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400"/>
              </a:spcAft>
              <a:buNone/>
            </a:pPr>
            <a:r>
              <a:rPr lang="en" sz="1300" b="1"/>
              <a:t>Stacking &amp; Planarization</a:t>
            </a:r>
            <a:endParaRPr/>
          </a:p>
        </p:txBody>
      </p:sp>
      <p:sp>
        <p:nvSpPr>
          <p:cNvPr id="170" name="Google Shape;170;p30"/>
          <p:cNvSpPr txBox="1">
            <a:spLocks noGrp="1"/>
          </p:cNvSpPr>
          <p:nvPr>
            <p:ph type="body" idx="4294967295"/>
          </p:nvPr>
        </p:nvSpPr>
        <p:spPr>
          <a:xfrm>
            <a:off x="312187" y="3771485"/>
            <a:ext cx="8520113" cy="341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b="1" dirty="0">
                <a:solidFill>
                  <a:schemeClr val="dk1"/>
                </a:solidFill>
              </a:rPr>
              <a:t>Edge Placement Error (EPE):</a:t>
            </a:r>
            <a:r>
              <a:rPr lang="en" sz="1100" dirty="0">
                <a:solidFill>
                  <a:schemeClr val="dk1"/>
                </a:solidFill>
              </a:rPr>
              <a:t> Layer </a:t>
            </a:r>
            <a:r>
              <a:rPr lang="en" sz="1100" i="1" dirty="0">
                <a:solidFill>
                  <a:schemeClr val="dk1"/>
                </a:solidFill>
              </a:rPr>
              <a:t>N</a:t>
            </a:r>
            <a:r>
              <a:rPr lang="en" sz="1100" dirty="0">
                <a:solidFill>
                  <a:schemeClr val="dk1"/>
                </a:solidFill>
              </a:rPr>
              <a:t> must perfectly align with Layer </a:t>
            </a:r>
            <a:r>
              <a:rPr lang="en" sz="1100" i="1" dirty="0">
                <a:solidFill>
                  <a:schemeClr val="dk1"/>
                </a:solidFill>
              </a:rPr>
              <a:t>N-1</a:t>
            </a:r>
            <a:r>
              <a:rPr lang="en" sz="1100" dirty="0">
                <a:solidFill>
                  <a:schemeClr val="dk1"/>
                </a:solidFill>
              </a:rPr>
              <a:t>. A 2nm misalignment can ruin the chip.</a:t>
            </a:r>
            <a:endParaRPr sz="1100" dirty="0">
              <a:solidFill>
                <a:schemeClr val="dk1"/>
              </a:solidFill>
            </a:endParaRPr>
          </a:p>
          <a:p>
            <a:pPr marL="0" lvl="0" indent="0" algn="l" rtl="0">
              <a:spcBef>
                <a:spcPts val="1200"/>
              </a:spcBef>
              <a:spcAft>
                <a:spcPts val="0"/>
              </a:spcAft>
              <a:buNone/>
            </a:pPr>
            <a:r>
              <a:rPr lang="en" sz="1100" b="1" dirty="0">
                <a:solidFill>
                  <a:schemeClr val="dk1"/>
                </a:solidFill>
              </a:rPr>
              <a:t>Chemical Mechanical Planarization (CMP):</a:t>
            </a:r>
            <a:r>
              <a:rPr lang="en" sz="1100" dirty="0">
                <a:solidFill>
                  <a:schemeClr val="dk1"/>
                </a:solidFill>
              </a:rPr>
              <a:t> Because high-NA scanners have such a shallow Depth of Focus, the wafer cannot be bumpy. CMP uses chemical slurries and rotating pads to grind the surface perfectly flat between every single layer.</a:t>
            </a:r>
            <a:endParaRPr sz="1100" dirty="0">
              <a:solidFill>
                <a:schemeClr val="dk1"/>
              </a:solidFill>
            </a:endParaRPr>
          </a:p>
          <a:p>
            <a:pPr marL="0" lvl="0" indent="0" algn="l" rtl="0">
              <a:spcBef>
                <a:spcPts val="1200"/>
              </a:spcBef>
              <a:spcAft>
                <a:spcPts val="1200"/>
              </a:spcAft>
              <a:buNone/>
            </a:pP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1"/>
          <p:cNvSpPr txBox="1">
            <a:spLocks noGrp="1"/>
          </p:cNvSpPr>
          <p:nvPr>
            <p:ph type="title"/>
          </p:nvPr>
        </p:nvSpPr>
        <p:spPr>
          <a:xfrm>
            <a:off x="311700" y="25757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t>Advanced Mask Physics: PSM and ILT</a:t>
            </a:r>
            <a:endParaRPr/>
          </a:p>
        </p:txBody>
      </p:sp>
      <p:sp>
        <p:nvSpPr>
          <p:cNvPr id="176" name="Google Shape;176;p31"/>
          <p:cNvSpPr txBox="1">
            <a:spLocks noGrp="1"/>
          </p:cNvSpPr>
          <p:nvPr>
            <p:ph type="body" idx="1"/>
          </p:nvPr>
        </p:nvSpPr>
        <p:spPr>
          <a:xfrm>
            <a:off x="311700" y="95002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Phase-Shift Masks (PSM):</a:t>
            </a:r>
            <a:r>
              <a:rPr lang="en" sz="1100">
                <a:solidFill>
                  <a:schemeClr val="dk1"/>
                </a:solidFill>
              </a:rPr>
              <a:t> A technique that exploits the wave nature of light. By selectively etching trenches into the quartz glass, the phase of the light passing through is shifted by 180 degrees. When the shifted light and unshifted light meet at the edge of a feature on the wafer, complete destructive interference occurs, creating a perfectly dark, razor-sharp edge.</a:t>
            </a:r>
            <a:endParaRPr sz="1100">
              <a:solidFill>
                <a:schemeClr val="dk1"/>
              </a:solidFill>
            </a:endParaRPr>
          </a:p>
          <a:p>
            <a:pPr marL="0" lvl="0" indent="0" algn="l" rtl="0">
              <a:spcBef>
                <a:spcPts val="0"/>
              </a:spcBef>
              <a:spcAft>
                <a:spcPts val="0"/>
              </a:spcAft>
              <a:buClr>
                <a:schemeClr val="dk1"/>
              </a:buClr>
              <a:buSzPts val="1100"/>
              <a:buFont typeface="Arial"/>
              <a:buNone/>
            </a:pPr>
            <a:r>
              <a:rPr lang="en" sz="1100" b="1">
                <a:solidFill>
                  <a:schemeClr val="dk1"/>
                </a:solidFill>
              </a:rPr>
              <a:t>Inverse Lithography Technology (ILT):</a:t>
            </a:r>
            <a:r>
              <a:rPr lang="en" sz="1100">
                <a:solidFill>
                  <a:schemeClr val="dk1"/>
                </a:solidFill>
              </a:rPr>
              <a:t> Instead of starting with the desired shape and adding OPC tweaks, ILT treats the process as an inverse mathematical problem. Using massive compute clusters (and increasingly, Machine Learning), ILT calculates the absolutely optimal mask shape required to produce the desired wafer target.</a:t>
            </a:r>
            <a:endParaRPr sz="1100">
              <a:solidFill>
                <a:schemeClr val="dk1"/>
              </a:solidFill>
            </a:endParaRPr>
          </a:p>
          <a:p>
            <a:pPr marL="0" lvl="0" indent="0" algn="l" rtl="0">
              <a:spcBef>
                <a:spcPts val="0"/>
              </a:spcBef>
              <a:spcAft>
                <a:spcPts val="0"/>
              </a:spcAft>
              <a:buClr>
                <a:schemeClr val="dk1"/>
              </a:buClr>
              <a:buSzPts val="1100"/>
              <a:buFont typeface="Arial"/>
              <a:buNone/>
            </a:pPr>
            <a:r>
              <a:rPr lang="en" sz="1100" b="1">
                <a:solidFill>
                  <a:schemeClr val="dk1"/>
                </a:solidFill>
              </a:rPr>
              <a:t>The Result:</a:t>
            </a:r>
            <a:r>
              <a:rPr lang="en" sz="1100">
                <a:solidFill>
                  <a:schemeClr val="dk1"/>
                </a:solidFill>
              </a:rPr>
              <a:t> ILT generates highly complex, amoeba-like, curvilinear mask patterns that look completely alien, but they perfectly counter the physics of diffraction to yield pristine square grids on the chip.</a:t>
            </a:r>
            <a:endParaRPr sz="1100">
              <a:solidFill>
                <a:schemeClr val="dk1"/>
              </a:solidFill>
            </a:endParaRPr>
          </a:p>
          <a:p>
            <a:pPr marL="0" lvl="0" indent="0" algn="l" rtl="0">
              <a:spcBef>
                <a:spcPts val="0"/>
              </a:spcBef>
              <a:spcAft>
                <a:spcPts val="1200"/>
              </a:spcAft>
              <a:buNone/>
            </a:pPr>
            <a:endParaRPr/>
          </a:p>
        </p:txBody>
      </p:sp>
      <p:sp>
        <p:nvSpPr>
          <p:cNvPr id="177" name="Google Shape;177;p31"/>
          <p:cNvSpPr txBox="1">
            <a:spLocks noGrp="1"/>
          </p:cNvSpPr>
          <p:nvPr>
            <p:ph type="title" idx="4294967295"/>
          </p:nvPr>
        </p:nvSpPr>
        <p:spPr>
          <a:xfrm>
            <a:off x="311700" y="2769050"/>
            <a:ext cx="8446818" cy="536575"/>
          </a:xfrm>
          <a:prstGeom prst="rect">
            <a:avLst/>
          </a:prstGeom>
        </p:spPr>
        <p:txBody>
          <a:bodyPr spcFirstLastPara="1" wrap="square" lIns="85750" tIns="85750" rIns="85750" bIns="85750" anchor="t" anchorCtr="0">
            <a:normAutofit/>
          </a:bodyPr>
          <a:lstStyle/>
          <a:p>
            <a:pPr marL="0" lvl="0" indent="0" algn="l" rtl="0">
              <a:lnSpc>
                <a:spcPct val="115000"/>
              </a:lnSpc>
              <a:spcBef>
                <a:spcPts val="0"/>
              </a:spcBef>
              <a:spcAft>
                <a:spcPts val="375"/>
              </a:spcAft>
              <a:buNone/>
            </a:pPr>
            <a:r>
              <a:rPr lang="en" sz="1219" b="1"/>
              <a:t>Scaling Challenges &amp; Alternatives</a:t>
            </a:r>
            <a:endParaRPr sz="2626"/>
          </a:p>
        </p:txBody>
      </p:sp>
      <p:sp>
        <p:nvSpPr>
          <p:cNvPr id="178" name="Google Shape;178;p31"/>
          <p:cNvSpPr txBox="1">
            <a:spLocks noGrp="1"/>
          </p:cNvSpPr>
          <p:nvPr>
            <p:ph type="body" idx="4294967295"/>
          </p:nvPr>
        </p:nvSpPr>
        <p:spPr>
          <a:xfrm>
            <a:off x="311700" y="3449060"/>
            <a:ext cx="7993063" cy="3205163"/>
          </a:xfrm>
          <a:prstGeom prst="rect">
            <a:avLst/>
          </a:prstGeom>
        </p:spPr>
        <p:txBody>
          <a:bodyPr spcFirstLastPara="1" wrap="square" lIns="85750" tIns="85750" rIns="85750" bIns="85750" anchor="t" anchorCtr="0">
            <a:normAutofit/>
          </a:bodyPr>
          <a:lstStyle/>
          <a:p>
            <a:pPr marL="0" lvl="0" indent="0" algn="l" rtl="0">
              <a:spcBef>
                <a:spcPts val="0"/>
              </a:spcBef>
              <a:spcAft>
                <a:spcPts val="0"/>
              </a:spcAft>
              <a:buNone/>
            </a:pPr>
            <a:r>
              <a:rPr lang="en" sz="1032" b="1" dirty="0">
                <a:solidFill>
                  <a:schemeClr val="dk1"/>
                </a:solidFill>
              </a:rPr>
              <a:t>Stochastic Shot Noise:</a:t>
            </a:r>
            <a:r>
              <a:rPr lang="en" sz="1032" dirty="0">
                <a:solidFill>
                  <a:schemeClr val="dk1"/>
                </a:solidFill>
              </a:rPr>
              <a:t> At EUV wavelengths, the random arrival times of individual high-energy photons cause unpredictable flaws and Line Edge Roughness (LER).</a:t>
            </a:r>
            <a:endParaRPr sz="1032" dirty="0">
              <a:solidFill>
                <a:schemeClr val="dk1"/>
              </a:solidFill>
            </a:endParaRPr>
          </a:p>
          <a:p>
            <a:pPr marL="0" lvl="0" indent="0" algn="l" rtl="0">
              <a:spcBef>
                <a:spcPts val="1126"/>
              </a:spcBef>
              <a:spcAft>
                <a:spcPts val="0"/>
              </a:spcAft>
              <a:buNone/>
            </a:pPr>
            <a:r>
              <a:rPr lang="en" sz="1032" b="1" dirty="0">
                <a:solidFill>
                  <a:schemeClr val="dk1"/>
                </a:solidFill>
              </a:rPr>
              <a:t>Alternatives to Optical Lithography:</a:t>
            </a:r>
            <a:endParaRPr sz="1032" b="1" dirty="0">
              <a:solidFill>
                <a:schemeClr val="dk1"/>
              </a:solidFill>
            </a:endParaRPr>
          </a:p>
          <a:p>
            <a:pPr marL="428860" lvl="0" indent="-279950" algn="l" rtl="0">
              <a:spcBef>
                <a:spcPts val="1126"/>
              </a:spcBef>
              <a:spcAft>
                <a:spcPts val="0"/>
              </a:spcAft>
              <a:buClr>
                <a:schemeClr val="dk1"/>
              </a:buClr>
              <a:buSzPts val="1032"/>
              <a:buChar char="●"/>
            </a:pPr>
            <a:r>
              <a:rPr lang="en" sz="1032" b="1" dirty="0">
                <a:solidFill>
                  <a:schemeClr val="dk1"/>
                </a:solidFill>
              </a:rPr>
              <a:t>Electron Beam Lithography (EBL):</a:t>
            </a:r>
            <a:r>
              <a:rPr lang="en" sz="1032" dirty="0">
                <a:solidFill>
                  <a:schemeClr val="dk1"/>
                </a:solidFill>
              </a:rPr>
              <a:t> Incredible atomic resolution, but </a:t>
            </a:r>
            <a:r>
              <a:rPr lang="en" sz="1032" dirty="0" err="1">
                <a:solidFill>
                  <a:schemeClr val="dk1"/>
                </a:solidFill>
              </a:rPr>
              <a:t>unviably</a:t>
            </a:r>
            <a:r>
              <a:rPr lang="en" sz="1032" dirty="0">
                <a:solidFill>
                  <a:schemeClr val="dk1"/>
                </a:solidFill>
              </a:rPr>
              <a:t> slow for mass production.</a:t>
            </a:r>
            <a:endParaRPr sz="1032" dirty="0">
              <a:solidFill>
                <a:schemeClr val="dk1"/>
              </a:solidFill>
            </a:endParaRPr>
          </a:p>
          <a:p>
            <a:pPr marL="428860" lvl="0" indent="-279950" algn="l" rtl="0">
              <a:spcBef>
                <a:spcPts val="0"/>
              </a:spcBef>
              <a:spcAft>
                <a:spcPts val="0"/>
              </a:spcAft>
              <a:buClr>
                <a:schemeClr val="dk1"/>
              </a:buClr>
              <a:buSzPts val="1032"/>
              <a:buChar char="●"/>
            </a:pPr>
            <a:r>
              <a:rPr lang="en" sz="1032" b="1" dirty="0">
                <a:solidFill>
                  <a:schemeClr val="dk1"/>
                </a:solidFill>
              </a:rPr>
              <a:t>Directed Self-Assembly (DSA):</a:t>
            </a:r>
            <a:r>
              <a:rPr lang="en" sz="1032" dirty="0">
                <a:solidFill>
                  <a:schemeClr val="dk1"/>
                </a:solidFill>
              </a:rPr>
              <a:t> Utilizing block copolymers that naturally self-organize into highly ordered nanoscale cylinders or lines.</a:t>
            </a:r>
            <a:endParaRPr sz="1688"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2"/>
          <p:cNvSpPr txBox="1">
            <a:spLocks noGrp="1"/>
          </p:cNvSpPr>
          <p:nvPr>
            <p:ph type="title"/>
          </p:nvPr>
        </p:nvSpPr>
        <p:spPr>
          <a:xfrm>
            <a:off x="356200" y="18531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400"/>
              </a:spcAft>
              <a:buSzPts val="990"/>
              <a:buNone/>
            </a:pPr>
            <a:r>
              <a:rPr lang="en" sz="2830" b="1" dirty="0"/>
              <a:t>Section 05: Lab Photolithography</a:t>
            </a:r>
            <a:endParaRPr sz="24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3"/>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t>Lab-Scale Photolithography: The Aluminum Hall Bar</a:t>
            </a:r>
            <a:endParaRPr/>
          </a:p>
        </p:txBody>
      </p:sp>
      <p:sp>
        <p:nvSpPr>
          <p:cNvPr id="189" name="Google Shape;189;p3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b="1" dirty="0">
                <a:solidFill>
                  <a:schemeClr val="dk1"/>
                </a:solidFill>
              </a:rPr>
              <a:t>The Concept:</a:t>
            </a:r>
            <a:r>
              <a:rPr lang="en" sz="1100" dirty="0">
                <a:solidFill>
                  <a:schemeClr val="dk1"/>
                </a:solidFill>
              </a:rPr>
              <a:t> Bridging theoretical optics with tangible device fabrication by creating high-precision aluminum (Al) thin-film Hall bar contacts on a Si/SiO2 substrate.</a:t>
            </a:r>
            <a:br>
              <a:rPr lang="en" sz="1100" dirty="0">
                <a:solidFill>
                  <a:schemeClr val="dk1"/>
                </a:solidFill>
              </a:rPr>
            </a:br>
            <a:endParaRPr sz="1100" dirty="0">
              <a:solidFill>
                <a:schemeClr val="dk1"/>
              </a:solidFill>
            </a:endParaRPr>
          </a:p>
          <a:p>
            <a:pPr marL="0" lvl="0" indent="0" algn="l" rtl="0">
              <a:spcBef>
                <a:spcPts val="0"/>
              </a:spcBef>
              <a:spcAft>
                <a:spcPts val="0"/>
              </a:spcAft>
              <a:buNone/>
            </a:pPr>
            <a:r>
              <a:rPr lang="en" sz="1100" b="1" dirty="0">
                <a:solidFill>
                  <a:schemeClr val="dk1"/>
                </a:solidFill>
              </a:rPr>
              <a:t>The Photoresist:</a:t>
            </a:r>
            <a:r>
              <a:rPr lang="en" sz="1100" dirty="0">
                <a:solidFill>
                  <a:schemeClr val="dk1"/>
                </a:solidFill>
              </a:rPr>
              <a:t> The process utilizes PMMA (typically 950k or 495k molecular weight).</a:t>
            </a:r>
            <a:br>
              <a:rPr lang="en" sz="1100" dirty="0">
                <a:solidFill>
                  <a:schemeClr val="dk1"/>
                </a:solidFill>
              </a:rPr>
            </a:br>
            <a:endParaRPr sz="1100" dirty="0">
              <a:solidFill>
                <a:schemeClr val="dk1"/>
              </a:solidFill>
            </a:endParaRPr>
          </a:p>
          <a:p>
            <a:pPr marL="0" lvl="0" indent="0" algn="l" rtl="0">
              <a:spcBef>
                <a:spcPts val="0"/>
              </a:spcBef>
              <a:spcAft>
                <a:spcPts val="0"/>
              </a:spcAft>
              <a:buNone/>
            </a:pPr>
            <a:r>
              <a:rPr lang="en" sz="1100" b="1" dirty="0">
                <a:solidFill>
                  <a:schemeClr val="dk1"/>
                </a:solidFill>
              </a:rPr>
              <a:t>The Masking Approach:</a:t>
            </a:r>
            <a:r>
              <a:rPr lang="en" sz="1100" dirty="0">
                <a:solidFill>
                  <a:schemeClr val="dk1"/>
                </a:solidFill>
              </a:rPr>
              <a:t> Rather than using highly complex EUV reticles, practical lab-scale patterning can be achieved using a DIY chart photomask mounted directly on a standard UV mask aligner. </a:t>
            </a:r>
            <a:br>
              <a:rPr lang="en" sz="1100" b="1" dirty="0">
                <a:solidFill>
                  <a:schemeClr val="dk1"/>
                </a:solidFill>
              </a:rPr>
            </a:br>
            <a:endParaRPr sz="1100" dirty="0">
              <a:solidFill>
                <a:schemeClr val="dk1"/>
              </a:solidFill>
            </a:endParaRPr>
          </a:p>
          <a:p>
            <a:pPr marL="0" lvl="0" indent="0" algn="l" rtl="0">
              <a:spcBef>
                <a:spcPts val="0"/>
              </a:spcBef>
              <a:spcAft>
                <a:spcPts val="0"/>
              </a:spcAft>
              <a:buNone/>
            </a:pPr>
            <a:r>
              <a:rPr lang="en" sz="1100" b="1" dirty="0">
                <a:solidFill>
                  <a:schemeClr val="dk1"/>
                </a:solidFill>
              </a:rPr>
              <a:t>Spin Coating &amp; Baking:</a:t>
            </a:r>
            <a:r>
              <a:rPr lang="en" sz="1100" dirty="0">
                <a:solidFill>
                  <a:schemeClr val="dk1"/>
                </a:solidFill>
              </a:rPr>
              <a:t> After a rigorous ultrasonic cleaning and dehydration bake, PMMA is spin-coated at 3000–5000 RPM for 60 seconds. A critical hard bake is then performed on a hot plate at exactly </a:t>
            </a:r>
            <a:r>
              <a:rPr lang="en" sz="1100" b="1" dirty="0">
                <a:solidFill>
                  <a:schemeClr val="dk1"/>
                </a:solidFill>
              </a:rPr>
              <a:t>180°C</a:t>
            </a:r>
            <a:r>
              <a:rPr lang="en" sz="1100" dirty="0">
                <a:solidFill>
                  <a:schemeClr val="dk1"/>
                </a:solidFill>
              </a:rPr>
              <a:t> for 90 seconds to solidify the film and ensure proper lift-off profiles.</a:t>
            </a:r>
            <a:br>
              <a:rPr lang="en" sz="1100" dirty="0">
                <a:solidFill>
                  <a:schemeClr val="dk1"/>
                </a:solidFill>
              </a:rPr>
            </a:br>
            <a:endParaRPr sz="1100" dirty="0">
              <a:solidFill>
                <a:schemeClr val="dk1"/>
              </a:solidFill>
            </a:endParaRPr>
          </a:p>
          <a:p>
            <a:pPr marL="0" lvl="0" indent="0" algn="l" rtl="0">
              <a:spcBef>
                <a:spcPts val="0"/>
              </a:spcBef>
              <a:spcAft>
                <a:spcPts val="0"/>
              </a:spcAft>
              <a:buNone/>
            </a:pPr>
            <a:r>
              <a:rPr lang="en" sz="1100" b="1" dirty="0">
                <a:solidFill>
                  <a:schemeClr val="dk1"/>
                </a:solidFill>
              </a:rPr>
              <a:t>Exposure &amp; Development:</a:t>
            </a:r>
            <a:r>
              <a:rPr lang="en" sz="1100" dirty="0">
                <a:solidFill>
                  <a:schemeClr val="dk1"/>
                </a:solidFill>
              </a:rPr>
              <a:t> The UV radiation breaks the PMMA polymer chains (chain scission) in the specific shape of the Hall bar and contact pads. The substrate is developed in a MIBK:IPA (1:3) solution , then immediately rinsed in an IPA stop bath.</a:t>
            </a:r>
            <a:br>
              <a:rPr lang="en" sz="1100" dirty="0">
                <a:solidFill>
                  <a:schemeClr val="dk1"/>
                </a:solidFill>
              </a:rPr>
            </a:br>
            <a:endParaRPr sz="1100" dirty="0">
              <a:solidFill>
                <a:schemeClr val="dk1"/>
              </a:solidFill>
            </a:endParaRPr>
          </a:p>
          <a:p>
            <a:pPr marL="0" lvl="0" indent="0" algn="l" rtl="0">
              <a:spcBef>
                <a:spcPts val="0"/>
              </a:spcBef>
              <a:spcAft>
                <a:spcPts val="0"/>
              </a:spcAft>
              <a:buNone/>
            </a:pPr>
            <a:r>
              <a:rPr lang="en" sz="1100" b="1" dirty="0">
                <a:solidFill>
                  <a:schemeClr val="dk1"/>
                </a:solidFill>
              </a:rPr>
              <a:t>Thermal Evaporation:</a:t>
            </a:r>
            <a:r>
              <a:rPr lang="en" sz="1100" dirty="0">
                <a:solidFill>
                  <a:schemeClr val="dk1"/>
                </a:solidFill>
              </a:rPr>
              <a:t> A thin layer of Aluminum (350nm) is deposited over the entire substrate under high vacuum (≈10⁻⁶ Torr). The deposition rate must be kept very slow to prevent radiant heat from melting the underlying PMMA layer.</a:t>
            </a:r>
            <a:endParaRPr sz="1100" dirty="0">
              <a:solidFill>
                <a:schemeClr val="dk1"/>
              </a:solidFill>
            </a:endParaRPr>
          </a:p>
          <a:p>
            <a:pPr marL="0" lvl="0" indent="0" algn="l" rtl="0">
              <a:spcBef>
                <a:spcPts val="0"/>
              </a:spcBef>
              <a:spcAft>
                <a:spcPts val="1200"/>
              </a:spcAft>
              <a:buNone/>
            </a:pP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4"/>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t>Device Finalization and Characterization</a:t>
            </a:r>
            <a:endParaRPr/>
          </a:p>
        </p:txBody>
      </p:sp>
      <p:sp>
        <p:nvSpPr>
          <p:cNvPr id="195" name="Google Shape;195;p34"/>
          <p:cNvSpPr txBox="1">
            <a:spLocks noGrp="1"/>
          </p:cNvSpPr>
          <p:nvPr>
            <p:ph type="body" idx="1"/>
          </p:nvPr>
        </p:nvSpPr>
        <p:spPr>
          <a:xfrm>
            <a:off x="311699" y="1152475"/>
            <a:ext cx="3821029" cy="3437454"/>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dirty="0">
                <a:solidFill>
                  <a:schemeClr val="dk1"/>
                </a:solidFill>
              </a:rPr>
              <a:t>Executing the Lift-Off:</a:t>
            </a:r>
            <a:r>
              <a:rPr lang="en" sz="1100" dirty="0">
                <a:solidFill>
                  <a:schemeClr val="dk1"/>
                </a:solidFill>
              </a:rPr>
              <a:t> The sample is submerged in an Acetone bath. As the solvent dissolves the unexposed PMMA, the excess aluminum sitting on top of it simply flakes off, leaving only the desired Hall bar geometry.</a:t>
            </a:r>
          </a:p>
          <a:p>
            <a:pPr marL="0" lvl="0" indent="0" algn="l" rtl="0">
              <a:spcBef>
                <a:spcPts val="0"/>
              </a:spcBef>
              <a:spcAft>
                <a:spcPts val="0"/>
              </a:spcAft>
              <a:buClr>
                <a:schemeClr val="dk1"/>
              </a:buClr>
              <a:buSzPts val="1100"/>
              <a:buFont typeface="Arial"/>
              <a:buNone/>
            </a:pPr>
            <a:endParaRPr sz="1100" dirty="0">
              <a:solidFill>
                <a:schemeClr val="dk1"/>
              </a:solidFill>
            </a:endParaRPr>
          </a:p>
          <a:p>
            <a:pPr marL="0" lvl="0" indent="0" algn="l" rtl="0">
              <a:spcBef>
                <a:spcPts val="0"/>
              </a:spcBef>
              <a:spcAft>
                <a:spcPts val="0"/>
              </a:spcAft>
              <a:buClr>
                <a:schemeClr val="dk1"/>
              </a:buClr>
              <a:buSzPts val="1100"/>
              <a:buFont typeface="Arial"/>
              <a:buNone/>
            </a:pPr>
            <a:r>
              <a:rPr lang="en" sz="1100" b="1" dirty="0">
                <a:solidFill>
                  <a:schemeClr val="dk1"/>
                </a:solidFill>
              </a:rPr>
              <a:t>Optical Inspection:</a:t>
            </a:r>
            <a:r>
              <a:rPr lang="en" sz="1100" dirty="0">
                <a:solidFill>
                  <a:schemeClr val="dk1"/>
                </a:solidFill>
              </a:rPr>
              <a:t> Using an optical microscope, the device is inspected to ensure the edges are razor-sharp and that no residual aluminum "flags" remain. The final resulting device is a clean, thin-film Al pattern on a roughly 6mm x 6mm substrate. * </a:t>
            </a:r>
          </a:p>
          <a:p>
            <a:pPr marL="0" lvl="0" indent="0" algn="l" rtl="0">
              <a:spcBef>
                <a:spcPts val="0"/>
              </a:spcBef>
              <a:spcAft>
                <a:spcPts val="0"/>
              </a:spcAft>
              <a:buClr>
                <a:schemeClr val="dk1"/>
              </a:buClr>
              <a:buSzPts val="1100"/>
              <a:buFont typeface="Arial"/>
              <a:buNone/>
            </a:pPr>
            <a:endParaRPr lang="en" sz="1100" dirty="0">
              <a:solidFill>
                <a:schemeClr val="dk1"/>
              </a:solidFill>
            </a:endParaRPr>
          </a:p>
          <a:p>
            <a:pPr marL="0" lvl="0" indent="0" algn="l" rtl="0">
              <a:spcBef>
                <a:spcPts val="0"/>
              </a:spcBef>
              <a:spcAft>
                <a:spcPts val="0"/>
              </a:spcAft>
              <a:buClr>
                <a:schemeClr val="dk1"/>
              </a:buClr>
              <a:buSzPts val="1100"/>
              <a:buFont typeface="Arial"/>
              <a:buNone/>
            </a:pPr>
            <a:r>
              <a:rPr lang="en" sz="1100" b="1" dirty="0">
                <a:solidFill>
                  <a:schemeClr val="dk1"/>
                </a:solidFill>
              </a:rPr>
              <a:t>Electrical Verification:</a:t>
            </a:r>
            <a:r>
              <a:rPr lang="en" sz="1100" dirty="0">
                <a:solidFill>
                  <a:schemeClr val="dk1"/>
                </a:solidFill>
              </a:rPr>
              <a:t> A probe station or multimeter is used to verify electrical continuity between the pads before attempting </a:t>
            </a:r>
            <a:r>
              <a:rPr lang="en" sz="1100">
                <a:solidFill>
                  <a:schemeClr val="dk1"/>
                </a:solidFill>
              </a:rPr>
              <a:t>rigorous magneto transport </a:t>
            </a:r>
            <a:r>
              <a:rPr lang="en" sz="1100" dirty="0">
                <a:solidFill>
                  <a:schemeClr val="dk1"/>
                </a:solidFill>
              </a:rPr>
              <a:t>analysis. When performing the subsequent Van der Pauw measurements on these completed structures, it is a standard practice to record and process the transverse Hall voltages strictly in true volts, rather than millivolts, to avoid calculation errors when extracting sheet resistance and carrier mobility limits.</a:t>
            </a:r>
            <a:endParaRPr sz="1100" dirty="0">
              <a:solidFill>
                <a:schemeClr val="dk1"/>
              </a:solidFill>
            </a:endParaRPr>
          </a:p>
          <a:p>
            <a:pPr marL="0" lvl="0" indent="0" algn="l" rtl="0">
              <a:spcBef>
                <a:spcPts val="0"/>
              </a:spcBef>
              <a:spcAft>
                <a:spcPts val="1200"/>
              </a:spcAft>
              <a:buNone/>
            </a:pPr>
            <a:endParaRPr sz="1100" b="1" dirty="0">
              <a:solidFill>
                <a:schemeClr val="dk1"/>
              </a:solidFill>
            </a:endParaRPr>
          </a:p>
        </p:txBody>
      </p:sp>
      <p:pic>
        <p:nvPicPr>
          <p:cNvPr id="196" name="Google Shape;196;p34"/>
          <p:cNvPicPr preferRelativeResize="0"/>
          <p:nvPr/>
        </p:nvPicPr>
        <p:blipFill rotWithShape="1">
          <a:blip r:embed="rId3">
            <a:alphaModFix/>
          </a:blip>
          <a:srcRect l="37687" t="46494" r="42065" b="39551"/>
          <a:stretch/>
        </p:blipFill>
        <p:spPr>
          <a:xfrm>
            <a:off x="5215972" y="1281955"/>
            <a:ext cx="3616328" cy="302233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5"/>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t>Key References and Further Reading</a:t>
            </a:r>
            <a:endParaRPr/>
          </a:p>
        </p:txBody>
      </p:sp>
      <p:sp>
        <p:nvSpPr>
          <p:cNvPr id="202" name="Google Shape;202;p35"/>
          <p:cNvSpPr txBox="1">
            <a:spLocks noGrp="1"/>
          </p:cNvSpPr>
          <p:nvPr>
            <p:ph type="body" idx="1"/>
          </p:nvPr>
        </p:nvSpPr>
        <p:spPr>
          <a:prstGeom prst="rect">
            <a:avLst/>
          </a:prstGeom>
        </p:spPr>
        <p:txBody>
          <a:bodyPr spcFirstLastPara="1" wrap="square" lIns="91425" tIns="91425" rIns="91425" bIns="91425" anchor="t" anchorCtr="0">
            <a:normAutofit/>
          </a:bodyPr>
          <a:lstStyle/>
          <a:p>
            <a:pPr marL="457200" lvl="0" indent="-298450" algn="l" rtl="0">
              <a:spcBef>
                <a:spcPts val="1200"/>
              </a:spcBef>
              <a:spcAft>
                <a:spcPts val="0"/>
              </a:spcAft>
              <a:buClr>
                <a:schemeClr val="dk1"/>
              </a:buClr>
              <a:buSzPts val="1100"/>
              <a:buChar char="●"/>
            </a:pPr>
            <a:r>
              <a:rPr lang="en" sz="1100" b="1">
                <a:solidFill>
                  <a:schemeClr val="dk1"/>
                </a:solidFill>
              </a:rPr>
              <a:t>Fundamental Lithography &amp; Optics:</a:t>
            </a:r>
            <a:endParaRPr sz="1100" b="1">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Levinson, H. J. (2019). </a:t>
            </a:r>
            <a:r>
              <a:rPr lang="en" sz="1100" i="1">
                <a:solidFill>
                  <a:schemeClr val="dk1"/>
                </a:solidFill>
              </a:rPr>
              <a:t>Principles of Lithography</a:t>
            </a:r>
            <a:r>
              <a:rPr lang="en" sz="1100">
                <a:solidFill>
                  <a:schemeClr val="dk1"/>
                </a:solidFill>
              </a:rPr>
              <a:t> (4th ed.). SPIE Press. </a:t>
            </a:r>
            <a:r>
              <a:rPr lang="en" sz="1100" i="1">
                <a:solidFill>
                  <a:schemeClr val="dk1"/>
                </a:solidFill>
              </a:rPr>
              <a:t>(The definitive text on the physics, diffraction limits, and chemistry of the lithographic process).</a:t>
            </a:r>
            <a:endParaRPr sz="1100" i="1">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Smith, B. W., &amp; Suzuki, K. (2020). </a:t>
            </a:r>
            <a:r>
              <a:rPr lang="en" sz="1100" i="1">
                <a:solidFill>
                  <a:schemeClr val="dk1"/>
                </a:solidFill>
              </a:rPr>
              <a:t>Microlithography: Science and Technology</a:t>
            </a:r>
            <a:r>
              <a:rPr lang="en" sz="1100">
                <a:solidFill>
                  <a:schemeClr val="dk1"/>
                </a:solidFill>
              </a:rPr>
              <a:t> (3rd ed.). CRC Press.</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Photoresist Chemistry &amp; Kinetics:</a:t>
            </a:r>
            <a:endParaRPr sz="1100" b="1">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Dill, F. H., et al. (1975). "Characterization of positive photoresist." </a:t>
            </a:r>
            <a:r>
              <a:rPr lang="en" sz="1100" i="1">
                <a:solidFill>
                  <a:schemeClr val="dk1"/>
                </a:solidFill>
              </a:rPr>
              <a:t>IEEE Transactions on Electron Devices</a:t>
            </a:r>
            <a:r>
              <a:rPr lang="en" sz="1100">
                <a:solidFill>
                  <a:schemeClr val="dk1"/>
                </a:solidFill>
              </a:rPr>
              <a:t>, 22(7), 445-452. </a:t>
            </a:r>
            <a:r>
              <a:rPr lang="en" sz="1100" i="1">
                <a:solidFill>
                  <a:schemeClr val="dk1"/>
                </a:solidFill>
              </a:rPr>
              <a:t>(The foundational paper establishing the Dill A, B, C parameters).</a:t>
            </a:r>
            <a:endParaRPr sz="1100" i="1">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High-NA EUV &amp; Advanced Fabrication (2026 State-of-the-Art):</a:t>
            </a:r>
            <a:endParaRPr sz="1100" b="1">
              <a:solidFill>
                <a:schemeClr val="dk1"/>
              </a:solidFill>
            </a:endParaRPr>
          </a:p>
          <a:p>
            <a:pPr marL="914400" lvl="1" indent="-298450" algn="l" rtl="0">
              <a:spcBef>
                <a:spcPts val="0"/>
              </a:spcBef>
              <a:spcAft>
                <a:spcPts val="0"/>
              </a:spcAft>
              <a:buClr>
                <a:schemeClr val="dk1"/>
              </a:buClr>
              <a:buSzPts val="1100"/>
              <a:buChar char="○"/>
            </a:pPr>
            <a:r>
              <a:rPr lang="en" sz="1100" i="1">
                <a:solidFill>
                  <a:schemeClr val="dk1"/>
                </a:solidFill>
              </a:rPr>
              <a:t>Proceedings of the SPIE Advanced Lithography + Patterning Conference</a:t>
            </a:r>
            <a:r>
              <a:rPr lang="en" sz="1100">
                <a:solidFill>
                  <a:schemeClr val="dk1"/>
                </a:solidFill>
              </a:rPr>
              <a:t>. (Current year publications on High-NA scanner performance, MOx dry resists, and defectivity limits).</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International Roadmap for Devices and Systems (IRDS). (Latest edition for sub-2nm node scaling, EPE budgets, and interconnect materials).</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Computational Lithography (OPC/ILT):</a:t>
            </a:r>
            <a:endParaRPr sz="1100" b="1">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Wong, A. K.-K. (2001). </a:t>
            </a:r>
            <a:r>
              <a:rPr lang="en" sz="1100" i="1">
                <a:solidFill>
                  <a:schemeClr val="dk1"/>
                </a:solidFill>
              </a:rPr>
              <a:t>Resolution Enhancement Techniques in Optical Lithography</a:t>
            </a:r>
            <a:r>
              <a:rPr lang="en" sz="1100">
                <a:solidFill>
                  <a:schemeClr val="dk1"/>
                </a:solidFill>
              </a:rPr>
              <a:t>. SPIE Press.</a:t>
            </a:r>
            <a:endParaRPr sz="1100">
              <a:solidFill>
                <a:schemeClr val="dk1"/>
              </a:solidFill>
            </a:endParaRPr>
          </a:p>
          <a:p>
            <a:pPr marL="914400" lvl="1" indent="-298450" algn="l" rtl="0">
              <a:spcBef>
                <a:spcPts val="0"/>
              </a:spcBef>
              <a:spcAft>
                <a:spcPts val="0"/>
              </a:spcAft>
              <a:buClr>
                <a:schemeClr val="dk1"/>
              </a:buClr>
              <a:buSzPts val="1100"/>
              <a:buChar char="○"/>
            </a:pPr>
            <a:r>
              <a:rPr lang="en" sz="1100">
                <a:solidFill>
                  <a:schemeClr val="dk1"/>
                </a:solidFill>
              </a:rPr>
              <a:t>Poonawala, A., &amp; Milanfar, P. (2007). "Mask design for optical microlithography—An inverse imaging problem." </a:t>
            </a:r>
            <a:r>
              <a:rPr lang="en" sz="1100" i="1">
                <a:solidFill>
                  <a:schemeClr val="dk1"/>
                </a:solidFill>
              </a:rPr>
              <a:t>IEEE Transactions on Image Processing</a:t>
            </a:r>
            <a:r>
              <a:rPr lang="en" sz="1100">
                <a:solidFill>
                  <a:schemeClr val="dk1"/>
                </a:solidFill>
              </a:rPr>
              <a:t>.</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Parcel</Template>
  <TotalTime>30</TotalTime>
  <Words>2467</Words>
  <Application>Microsoft Macintosh PowerPoint</Application>
  <PresentationFormat>On-screen Show (16:9)</PresentationFormat>
  <Paragraphs>140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Gill Sans MT</vt:lpstr>
      <vt:lpstr>Parcel</vt:lpstr>
      <vt:lpstr>Photolithography</vt:lpstr>
      <vt:lpstr>Table of content</vt:lpstr>
      <vt:lpstr>Section 01: Fundamental Physics </vt:lpstr>
      <vt:lpstr>Diffraction &amp; The Rayleigh Criterion</vt:lpstr>
      <vt:lpstr>Numerical Aperture (NA) &amp; Immersion</vt:lpstr>
      <vt:lpstr>The Depth of Focus (DOF) Dilemma</vt:lpstr>
      <vt:lpstr>EUV Optics &amp; Bragg Reflectors</vt:lpstr>
      <vt:lpstr>Section 02: Photo Chemistry &amp; Deposition </vt:lpstr>
      <vt:lpstr> Photoresist Types: Positive vs. Negative </vt:lpstr>
      <vt:lpstr> Photoresist Types: Positive vs. Negative </vt:lpstr>
      <vt:lpstr>Spin Coating &amp; The Physics of Deposition </vt:lpstr>
      <vt:lpstr>Chemical Kinetics: The Dill A-B-C Model</vt:lpstr>
      <vt:lpstr>The Future: Chemical Vapor Deposition (CVD) Dry Resists</vt:lpstr>
      <vt:lpstr>Section 03: The VLSI Fabrication Pipeline </vt:lpstr>
      <vt:lpstr> The VLSI Design Flow </vt:lpstr>
      <vt:lpstr>Photomask Fabrication: Building the Master Template</vt:lpstr>
      <vt:lpstr>Computational Lithography: Defeating Diffraction</vt:lpstr>
      <vt:lpstr>The Multi-Layer Fabrication Loop </vt:lpstr>
      <vt:lpstr>Advanced Mask Physics: PSM and ILT</vt:lpstr>
      <vt:lpstr>Section 05: Lab Photolithography</vt:lpstr>
      <vt:lpstr>Lab-Scale Photolithography: The Aluminum Hall Bar</vt:lpstr>
      <vt:lpstr>Device Finalization and Characterization</vt:lpstr>
      <vt:lpstr>Key References and 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JAJAPURAM SHIVA SAI</cp:lastModifiedBy>
  <cp:revision>9</cp:revision>
  <dcterms:modified xsi:type="dcterms:W3CDTF">2026-05-14T00:39:43Z</dcterms:modified>
</cp:coreProperties>
</file>